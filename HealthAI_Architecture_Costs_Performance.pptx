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F6F3D4-B9B3-42A8-8C66-725A1BA4C495}" v="5" dt="2025-12-15T11:50:35.4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114" y="4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les mccarthy" userId="c6971f366e65dfa3" providerId="LiveId" clId="{BAF8EF68-B7AB-4503-9648-829263EF8DA0}"/>
    <pc:docChg chg="custSel modSld">
      <pc:chgData name="charles mccarthy" userId="c6971f366e65dfa3" providerId="LiveId" clId="{BAF8EF68-B7AB-4503-9648-829263EF8DA0}" dt="2025-12-15T11:50:57.141" v="42" actId="1076"/>
      <pc:docMkLst>
        <pc:docMk/>
      </pc:docMkLst>
      <pc:sldChg chg="addSp delSp modSp mod">
        <pc:chgData name="charles mccarthy" userId="c6971f366e65dfa3" providerId="LiveId" clId="{BAF8EF68-B7AB-4503-9648-829263EF8DA0}" dt="2025-12-15T11:50:57.141" v="42" actId="1076"/>
        <pc:sldMkLst>
          <pc:docMk/>
          <pc:sldMk cId="0" sldId="257"/>
        </pc:sldMkLst>
        <pc:spChg chg="del">
          <ac:chgData name="charles mccarthy" userId="c6971f366e65dfa3" providerId="LiveId" clId="{BAF8EF68-B7AB-4503-9648-829263EF8DA0}" dt="2025-12-15T11:50:49.449" v="39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charles mccarthy" userId="c6971f366e65dfa3" providerId="LiveId" clId="{BAF8EF68-B7AB-4503-9648-829263EF8DA0}" dt="2025-12-15T11:50:46.635" v="38" actId="5793"/>
          <ac:spMkLst>
            <pc:docMk/>
            <pc:sldMk cId="0" sldId="257"/>
            <ac:spMk id="3" creationId="{00000000-0000-0000-0000-000000000000}"/>
          </ac:spMkLst>
        </pc:spChg>
        <pc:spChg chg="mod">
          <ac:chgData name="charles mccarthy" userId="c6971f366e65dfa3" providerId="LiveId" clId="{BAF8EF68-B7AB-4503-9648-829263EF8DA0}" dt="2025-12-15T11:50:57.141" v="42" actId="1076"/>
          <ac:spMkLst>
            <pc:docMk/>
            <pc:sldMk cId="0" sldId="257"/>
            <ac:spMk id="4" creationId="{00000000-0000-0000-0000-000000000000}"/>
          </ac:spMkLst>
        </pc:spChg>
        <pc:spChg chg="del">
          <ac:chgData name="charles mccarthy" userId="c6971f366e65dfa3" providerId="LiveId" clId="{BAF8EF68-B7AB-4503-9648-829263EF8DA0}" dt="2025-12-15T11:49:59.137" v="15" actId="478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charles mccarthy" userId="c6971f366e65dfa3" providerId="LiveId" clId="{BAF8EF68-B7AB-4503-9648-829263EF8DA0}" dt="2025-12-15T11:50:06.201" v="19" actId="478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charles mccarthy" userId="c6971f366e65dfa3" providerId="LiveId" clId="{BAF8EF68-B7AB-4503-9648-829263EF8DA0}" dt="2025-12-15T11:50:29.826" v="28" actId="14100"/>
          <ac:spMkLst>
            <pc:docMk/>
            <pc:sldMk cId="0" sldId="257"/>
            <ac:spMk id="11" creationId="{E69F6AC6-695A-0F18-6A27-2714DD508045}"/>
          </ac:spMkLst>
        </pc:spChg>
        <pc:picChg chg="add mod">
          <ac:chgData name="charles mccarthy" userId="c6971f366e65dfa3" providerId="LiveId" clId="{BAF8EF68-B7AB-4503-9648-829263EF8DA0}" dt="2025-12-15T11:50:35.474" v="30" actId="14100"/>
          <ac:picMkLst>
            <pc:docMk/>
            <pc:sldMk cId="0" sldId="257"/>
            <ac:picMk id="7" creationId="{168DB404-2A5F-3252-A68E-D8AC1C14619C}"/>
          </ac:picMkLst>
        </pc:picChg>
        <pc:picChg chg="add mod">
          <ac:chgData name="charles mccarthy" userId="c6971f366e65dfa3" providerId="LiveId" clId="{BAF8EF68-B7AB-4503-9648-829263EF8DA0}" dt="2025-12-15T11:50:33.281" v="29" actId="1076"/>
          <ac:picMkLst>
            <pc:docMk/>
            <pc:sldMk cId="0" sldId="257"/>
            <ac:picMk id="8" creationId="{730A2E91-AF63-F13B-556C-23AF8DED552C}"/>
          </ac:picMkLst>
        </pc:picChg>
        <pc:picChg chg="add mod">
          <ac:chgData name="charles mccarthy" userId="c6971f366e65dfa3" providerId="LiveId" clId="{BAF8EF68-B7AB-4503-9648-829263EF8DA0}" dt="2025-12-15T11:50:14.994" v="22" actId="14100"/>
          <ac:picMkLst>
            <pc:docMk/>
            <pc:sldMk cId="0" sldId="257"/>
            <ac:picMk id="9" creationId="{477D5F82-D7AB-D74E-028D-0F65CA16FA10}"/>
          </ac:picMkLst>
        </pc:picChg>
        <pc:picChg chg="add mod">
          <ac:chgData name="charles mccarthy" userId="c6971f366e65dfa3" providerId="LiveId" clId="{BAF8EF68-B7AB-4503-9648-829263EF8DA0}" dt="2025-12-15T11:50:14.994" v="22" actId="14100"/>
          <ac:picMkLst>
            <pc:docMk/>
            <pc:sldMk cId="0" sldId="257"/>
            <ac:picMk id="10" creationId="{F428F7E8-64F5-AE52-DFF5-20C2F89424F4}"/>
          </ac:picMkLst>
        </pc:picChg>
        <pc:picChg chg="add mod">
          <ac:chgData name="charles mccarthy" userId="c6971f366e65dfa3" providerId="LiveId" clId="{BAF8EF68-B7AB-4503-9648-829263EF8DA0}" dt="2025-12-15T11:50:14.994" v="22" actId="14100"/>
          <ac:picMkLst>
            <pc:docMk/>
            <pc:sldMk cId="0" sldId="257"/>
            <ac:picMk id="12" creationId="{6F0EA788-53E2-8066-F76F-8C2A0AD8D213}"/>
          </ac:picMkLst>
        </pc:picChg>
        <pc:cxnChg chg="add mod">
          <ac:chgData name="charles mccarthy" userId="c6971f366e65dfa3" providerId="LiveId" clId="{BAF8EF68-B7AB-4503-9648-829263EF8DA0}" dt="2025-12-15T11:50:14.994" v="22" actId="14100"/>
          <ac:cxnSpMkLst>
            <pc:docMk/>
            <pc:sldMk cId="0" sldId="257"/>
            <ac:cxnSpMk id="13" creationId="{2D46D0F5-F7C7-A3ED-4DC3-0726A263C877}"/>
          </ac:cxnSpMkLst>
        </pc:cxnChg>
        <pc:cxnChg chg="add mod">
          <ac:chgData name="charles mccarthy" userId="c6971f366e65dfa3" providerId="LiveId" clId="{BAF8EF68-B7AB-4503-9648-829263EF8DA0}" dt="2025-12-15T11:50:14.994" v="22" actId="14100"/>
          <ac:cxnSpMkLst>
            <pc:docMk/>
            <pc:sldMk cId="0" sldId="257"/>
            <ac:cxnSpMk id="14" creationId="{27203856-D7AF-4F2D-189C-81D085EB888F}"/>
          </ac:cxnSpMkLst>
        </pc:cxnChg>
        <pc:cxnChg chg="add mod">
          <ac:chgData name="charles mccarthy" userId="c6971f366e65dfa3" providerId="LiveId" clId="{BAF8EF68-B7AB-4503-9648-829263EF8DA0}" dt="2025-12-15T11:50:14.994" v="22" actId="14100"/>
          <ac:cxnSpMkLst>
            <pc:docMk/>
            <pc:sldMk cId="0" sldId="257"/>
            <ac:cxnSpMk id="15" creationId="{1AF288A3-B8BA-9569-8AFD-CB482D2DA714}"/>
          </ac:cxnSpMkLst>
        </pc:cxnChg>
        <pc:cxnChg chg="add mod">
          <ac:chgData name="charles mccarthy" userId="c6971f366e65dfa3" providerId="LiveId" clId="{BAF8EF68-B7AB-4503-9648-829263EF8DA0}" dt="2025-12-15T11:50:36.888" v="31" actId="1076"/>
          <ac:cxnSpMkLst>
            <pc:docMk/>
            <pc:sldMk cId="0" sldId="257"/>
            <ac:cxnSpMk id="17" creationId="{ED05C135-B182-2AA8-A464-44BAFE75EAD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>
                <a:solidFill>
                  <a:srgbClr val="006699"/>
                </a:solidFill>
              </a:defRPr>
            </a:pPr>
            <a:r>
              <a:t>HealthAI Medical Document Processing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AWS Architecture, Costs &amp; Performance</a:t>
            </a:r>
          </a:p>
          <a:p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42747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rPr lang="en-IE" dirty="0"/>
              <a:t>Imed2 </a:t>
            </a:r>
            <a:r>
              <a:rPr dirty="0"/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43368"/>
            <a:ext cx="6100324" cy="20005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AI-Powered Medical Document Processing</a:t>
            </a:r>
          </a:p>
          <a:p>
            <a:endParaRPr dirty="0"/>
          </a:p>
          <a:p>
            <a:r>
              <a:rPr dirty="0"/>
              <a:t>• Claude </a:t>
            </a:r>
            <a:r>
              <a:rPr lang="en-IE" dirty="0"/>
              <a:t>4</a:t>
            </a:r>
            <a:r>
              <a:rPr dirty="0"/>
              <a:t>.5 Sonnet - Advanced medical data extraction</a:t>
            </a:r>
          </a:p>
          <a:p>
            <a:r>
              <a:rPr dirty="0"/>
              <a:t>• Parallel Processing - </a:t>
            </a:r>
            <a:r>
              <a:rPr lang="en-IE" dirty="0"/>
              <a:t>7</a:t>
            </a:r>
            <a:r>
              <a:rPr dirty="0"/>
              <a:t>00-</a:t>
            </a:r>
            <a:r>
              <a:rPr lang="en-IE" dirty="0"/>
              <a:t>10</a:t>
            </a:r>
            <a:r>
              <a:rPr dirty="0"/>
              <a:t>00 pages per hour</a:t>
            </a:r>
          </a:p>
          <a:p>
            <a:r>
              <a:rPr dirty="0"/>
              <a:t>• Cost-Optimized - .0</a:t>
            </a:r>
            <a:r>
              <a:rPr lang="en-IE" dirty="0"/>
              <a:t>3 cent</a:t>
            </a:r>
            <a:r>
              <a:rPr dirty="0"/>
              <a:t> per page (88% cost reduction)</a:t>
            </a:r>
          </a:p>
          <a:p>
            <a:r>
              <a:rPr dirty="0"/>
              <a:t>• Fast - 7.6 seconds per page average</a:t>
            </a:r>
          </a:p>
          <a:p>
            <a:r>
              <a:rPr dirty="0"/>
              <a:t>• Structured Data - Medications, diagnoses, tests in DynamoDB</a:t>
            </a:r>
          </a:p>
        </p:txBody>
      </p:sp>
      <p:pic>
        <p:nvPicPr>
          <p:cNvPr id="7" name="Picture 2" descr="Ai Logo PNG Images With Transparent ...">
            <a:extLst>
              <a:ext uri="{FF2B5EF4-FFF2-40B4-BE49-F238E27FC236}">
                <a16:creationId xmlns:a16="http://schemas.microsoft.com/office/drawing/2014/main" id="{168DB404-2A5F-3252-A68E-D8AC1C146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8373" y="3334394"/>
            <a:ext cx="1804767" cy="1804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React original wordmark logo - Free ...">
            <a:extLst>
              <a:ext uri="{FF2B5EF4-FFF2-40B4-BE49-F238E27FC236}">
                <a16:creationId xmlns:a16="http://schemas.microsoft.com/office/drawing/2014/main" id="{730A2E91-AF63-F13B-556C-23AF8DED55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0031" y="3622122"/>
            <a:ext cx="964980" cy="964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rstanding Amazon DynamoDB | AWS in ...">
            <a:extLst>
              <a:ext uri="{FF2B5EF4-FFF2-40B4-BE49-F238E27FC236}">
                <a16:creationId xmlns:a16="http://schemas.microsoft.com/office/drawing/2014/main" id="{477D5F82-D7AB-D74E-028D-0F65CA1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8374" y="5781106"/>
            <a:ext cx="1403865" cy="644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An Introduction to AWS S3: Naming Rules ...">
            <a:extLst>
              <a:ext uri="{FF2B5EF4-FFF2-40B4-BE49-F238E27FC236}">
                <a16:creationId xmlns:a16="http://schemas.microsoft.com/office/drawing/2014/main" id="{F428F7E8-64F5-AE52-DFF5-20C2F8942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8026" y="5615313"/>
            <a:ext cx="1242478" cy="93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69F6AC6-695A-0F18-6A27-2714DD508045}"/>
              </a:ext>
            </a:extLst>
          </p:cNvPr>
          <p:cNvSpPr/>
          <p:nvPr/>
        </p:nvSpPr>
        <p:spPr>
          <a:xfrm>
            <a:off x="556118" y="3213126"/>
            <a:ext cx="1094275" cy="33328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Drop docs</a:t>
            </a:r>
          </a:p>
        </p:txBody>
      </p:sp>
      <p:pic>
        <p:nvPicPr>
          <p:cNvPr id="12" name="Picture 10" descr="AWS Lambda Under the Hood - Engineering ...">
            <a:extLst>
              <a:ext uri="{FF2B5EF4-FFF2-40B4-BE49-F238E27FC236}">
                <a16:creationId xmlns:a16="http://schemas.microsoft.com/office/drawing/2014/main" id="{6F0EA788-53E2-8066-F76F-8C2A0AD8D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74" y="3213126"/>
            <a:ext cx="1234021" cy="1217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46D0F5-F7C7-A3ED-4DC3-0726A263C877}"/>
              </a:ext>
            </a:extLst>
          </p:cNvPr>
          <p:cNvCxnSpPr/>
          <p:nvPr/>
        </p:nvCxnSpPr>
        <p:spPr>
          <a:xfrm>
            <a:off x="1785828" y="3593222"/>
            <a:ext cx="2357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7203856-D7AF-4F2D-189C-81D085EB888F}"/>
              </a:ext>
            </a:extLst>
          </p:cNvPr>
          <p:cNvCxnSpPr/>
          <p:nvPr/>
        </p:nvCxnSpPr>
        <p:spPr>
          <a:xfrm>
            <a:off x="1831250" y="5872323"/>
            <a:ext cx="2357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F288A3-B8BA-9569-8AFD-CB482D2DA714}"/>
              </a:ext>
            </a:extLst>
          </p:cNvPr>
          <p:cNvCxnSpPr/>
          <p:nvPr/>
        </p:nvCxnSpPr>
        <p:spPr>
          <a:xfrm>
            <a:off x="3711711" y="3789633"/>
            <a:ext cx="2357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F7E54A-7AE2-E14E-E11A-3DD56B46CA3B}"/>
              </a:ext>
            </a:extLst>
          </p:cNvPr>
          <p:cNvCxnSpPr/>
          <p:nvPr/>
        </p:nvCxnSpPr>
        <p:spPr>
          <a:xfrm>
            <a:off x="6804380" y="4020860"/>
            <a:ext cx="2357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D05C135-B182-2AA8-A464-44BAFE75EAD2}"/>
              </a:ext>
            </a:extLst>
          </p:cNvPr>
          <p:cNvCxnSpPr>
            <a:cxnSpLocks/>
          </p:cNvCxnSpPr>
          <p:nvPr/>
        </p:nvCxnSpPr>
        <p:spPr>
          <a:xfrm>
            <a:off x="5391531" y="5426622"/>
            <a:ext cx="0" cy="2368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Cost Analysis - 237 Page Document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931920" cy="640080"/>
          </a:xfrm>
          <a:prstGeom prst="rect">
            <a:avLst/>
          </a:prstGeom>
          <a:solidFill>
            <a:srgbClr val="FFC8C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BEFORE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93192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Bedrock Input: .00</a:t>
            </a:r>
          </a:p>
          <a:p>
            <a:r>
              <a:t>Bedrock Output: .00</a:t>
            </a:r>
          </a:p>
          <a:p>
            <a:r>
              <a:t>Lambda Exec: .18</a:t>
            </a:r>
          </a:p>
          <a:p>
            <a:r>
              <a:t>Infrastructure: .003</a:t>
            </a:r>
          </a:p>
          <a:p>
            <a:endParaRPr/>
          </a:p>
          <a:p>
            <a:r>
              <a:t>Total: .18</a:t>
            </a:r>
          </a:p>
          <a:p>
            <a:r>
              <a:t>Per Page: .191</a:t>
            </a:r>
          </a:p>
          <a:p>
            <a:r>
              <a:t>Time: 3.5 hours</a:t>
            </a:r>
          </a:p>
          <a:p>
            <a:r>
              <a:t>Throughput: 70 pages/hr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280160"/>
            <a:ext cx="3931920" cy="640080"/>
          </a:xfrm>
          <a:prstGeom prst="rect">
            <a:avLst/>
          </a:prstGeom>
          <a:solidFill>
            <a:srgbClr val="C8FFC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AFTER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011680"/>
            <a:ext cx="393192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Bedrock Input: .51</a:t>
            </a:r>
          </a:p>
          <a:p>
            <a:r>
              <a:t>Bedrock Output: .76</a:t>
            </a:r>
          </a:p>
          <a:p>
            <a:r>
              <a:t>Lambda Exec: .047</a:t>
            </a:r>
          </a:p>
          <a:p>
            <a:r>
              <a:t>Infrastructure: .003</a:t>
            </a:r>
          </a:p>
          <a:p>
            <a:endParaRPr/>
          </a:p>
          <a:p>
            <a:r>
              <a:t>Total: .31</a:t>
            </a:r>
          </a:p>
          <a:p>
            <a:r>
              <a:t>Per Page: .022</a:t>
            </a:r>
          </a:p>
          <a:p>
            <a:r>
              <a:t>Time: 30 minutes</a:t>
            </a:r>
          </a:p>
          <a:p>
            <a:r>
              <a:t>Throughput: 200-300 pages/hr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303520"/>
            <a:ext cx="5943600" cy="548640"/>
          </a:xfrm>
          <a:prstGeom prst="rect">
            <a:avLst/>
          </a:prstGeom>
          <a:solidFill>
            <a:srgbClr val="FFFF96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SAVINGS: .87 per document (88%) • 7x faster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Performance Metrics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2286000" cy="457200"/>
          </a:xfrm>
          <a:prstGeom prst="rect">
            <a:avLst/>
          </a:prstGeom>
          <a:solidFill>
            <a:srgbClr val="006699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1280160"/>
            <a:ext cx="1828800" cy="457200"/>
          </a:xfrm>
          <a:prstGeom prst="rect">
            <a:avLst/>
          </a:prstGeom>
          <a:solidFill>
            <a:srgbClr val="FFC8C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BEFORE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280160"/>
            <a:ext cx="1828800" cy="457200"/>
          </a:xfrm>
          <a:prstGeom prst="rect">
            <a:avLst/>
          </a:prstGeom>
          <a:solidFill>
            <a:srgbClr val="C8FFC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AFTER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Time/Page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828800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60-85 sec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828800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7.6 sec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340864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Cost/Page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340864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.191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2340864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.022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852928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Throughput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2852928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70/hr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852928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200-300/hr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364992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Success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3364992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24%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3364992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90%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3877056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API Calls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3877056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5/page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3877056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1/page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4389120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10K/page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4389120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2K/page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4901184"/>
            <a:ext cx="228600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237 Pages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4901184"/>
            <a:ext cx="1828800" cy="457200"/>
          </a:xfrm>
          <a:prstGeom prst="rect">
            <a:avLst/>
          </a:prstGeom>
          <a:solidFill>
            <a:srgbClr val="FFF0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3.5 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4901184"/>
            <a:ext cx="1828800" cy="4572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Cost Per Page Breakdown (.022)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Optimized Cost Structure:</a:t>
            </a:r>
          </a:p>
          <a:p>
            <a:endParaRPr/>
          </a:p>
          <a:p>
            <a:r>
              <a:t>Bedrock (Claude 3.5 Sonnet): 98% of cost</a:t>
            </a:r>
          </a:p>
          <a:p>
            <a:r>
              <a:t>• Input: ~5,000 tokens × /M = .015</a:t>
            </a:r>
          </a:p>
          <a:p>
            <a:r>
              <a:t>• Output: ~500 tokens × /M = .0075</a:t>
            </a:r>
          </a:p>
          <a:p>
            <a:r>
              <a:t>• Total: .0225/page</a:t>
            </a:r>
          </a:p>
          <a:p>
            <a:endParaRPr/>
          </a:p>
          <a:p>
            <a:r>
              <a:t>Lambda Functions: 2% of cost</a:t>
            </a:r>
          </a:p>
          <a:p>
            <a:r>
              <a:t>• Upload Handler: &lt;.0001</a:t>
            </a:r>
          </a:p>
          <a:p>
            <a:r>
              <a:t>• PDF Converter: .0001</a:t>
            </a:r>
          </a:p>
          <a:p>
            <a:r>
              <a:t>• AI Processor: .0002</a:t>
            </a:r>
          </a:p>
          <a:p>
            <a:r>
              <a:t>• API Handler: &lt;.0001</a:t>
            </a:r>
          </a:p>
          <a:p>
            <a:r>
              <a:t>• Total: .0004/page</a:t>
            </a:r>
          </a:p>
          <a:p>
            <a:endParaRPr/>
          </a:p>
          <a:p>
            <a:r>
              <a:t>Infrastructure: &lt;1% of cost</a:t>
            </a:r>
          </a:p>
          <a:p>
            <a:r>
              <a:t>• S3 Storage: .000001</a:t>
            </a:r>
          </a:p>
          <a:p>
            <a:r>
              <a:t>• DynamoDB: .00001</a:t>
            </a:r>
          </a:p>
          <a:p>
            <a:r>
              <a:t>• SQS Messages: .000001</a:t>
            </a:r>
          </a:p>
          <a:p>
            <a:r>
              <a:t>• Total: .000012/page</a:t>
            </a:r>
          </a:p>
          <a:p>
            <a:endParaRPr/>
          </a:p>
          <a:p>
            <a:r>
              <a:t>TOTAL: .022 per page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005840"/>
            <a:ext cx="2743200" cy="548640"/>
          </a:xfrm>
          <a:prstGeom prst="rect">
            <a:avLst/>
          </a:prstGeom>
          <a:solidFill>
            <a:srgbClr val="76CA8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S3 Upload</a:t>
            </a:r>
          </a:p>
          <a:p>
            <a:r>
              <a:t>Original PDFs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737360"/>
            <a:ext cx="2743200" cy="548640"/>
          </a:xfrm>
          <a:prstGeom prst="rect">
            <a:avLst/>
          </a:prstGeom>
          <a:solidFill>
            <a:srgbClr val="FF9F4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Upload Handler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468880"/>
            <a:ext cx="2743200" cy="457200"/>
          </a:xfrm>
          <a:prstGeom prst="rect">
            <a:avLst/>
          </a:prstGeom>
          <a:solidFill>
            <a:srgbClr val="FF6384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SQS Queue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108960"/>
            <a:ext cx="2743200" cy="548640"/>
          </a:xfrm>
          <a:prstGeom prst="rect">
            <a:avLst/>
          </a:prstGeom>
          <a:solidFill>
            <a:srgbClr val="FF9F4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PDF Converter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40480"/>
            <a:ext cx="1645920" cy="457200"/>
          </a:xfrm>
          <a:prstGeom prst="rect">
            <a:avLst/>
          </a:prstGeom>
          <a:solidFill>
            <a:srgbClr val="76CA8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S3 PNG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3840480"/>
            <a:ext cx="1645920" cy="457200"/>
          </a:xfrm>
          <a:prstGeom prst="rect">
            <a:avLst/>
          </a:prstGeom>
          <a:solidFill>
            <a:srgbClr val="76CA8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S3 WebP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3840480"/>
            <a:ext cx="1645920" cy="457200"/>
          </a:xfrm>
          <a:prstGeom prst="rect">
            <a:avLst/>
          </a:prstGeom>
          <a:solidFill>
            <a:srgbClr val="76CA8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S3 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480560"/>
            <a:ext cx="2743200" cy="457200"/>
          </a:xfrm>
          <a:prstGeom prst="rect">
            <a:avLst/>
          </a:prstGeom>
          <a:solidFill>
            <a:srgbClr val="FF6384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AI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120640"/>
            <a:ext cx="2743200" cy="548640"/>
          </a:xfrm>
          <a:prstGeom prst="rect">
            <a:avLst/>
          </a:prstGeom>
          <a:solidFill>
            <a:srgbClr val="9966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AI Processor</a:t>
            </a:r>
          </a:p>
          <a:p>
            <a:r>
              <a:t>Claude 3.5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103120"/>
            <a:ext cx="1554480" cy="3200400"/>
          </a:xfrm>
          <a:prstGeom prst="rect">
            <a:avLst/>
          </a:prstGeom>
          <a:solidFill>
            <a:srgbClr val="36A2EB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DynamoDB</a:t>
            </a:r>
          </a:p>
          <a:p>
            <a:endParaRPr/>
          </a:p>
          <a:p>
            <a:r>
              <a:t>Patients</a:t>
            </a:r>
          </a:p>
          <a:p>
            <a:r>
              <a:t>Docs</a:t>
            </a:r>
          </a:p>
          <a:p>
            <a:r>
              <a:t>Pages</a:t>
            </a:r>
          </a:p>
          <a:p>
            <a:r>
              <a:t>Meds</a:t>
            </a:r>
          </a:p>
          <a:p>
            <a:r>
              <a:t>Tests</a:t>
            </a:r>
          </a:p>
          <a:p>
            <a:r>
              <a:t>Diag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Medical Data Extraction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828800" cy="914400"/>
          </a:xfrm>
          <a:prstGeom prst="rect">
            <a:avLst/>
          </a:prstGeom>
          <a:solidFill>
            <a:srgbClr val="64B5F6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237 Pages</a:t>
            </a:r>
          </a:p>
          <a:p>
            <a:r>
              <a:t>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0" y="1188720"/>
            <a:ext cx="1828800" cy="914400"/>
          </a:xfrm>
          <a:prstGeom prst="rect">
            <a:avLst/>
          </a:prstGeom>
          <a:solidFill>
            <a:srgbClr val="81C784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1,294 Data</a:t>
            </a:r>
          </a:p>
          <a:p>
            <a:r>
              <a:t>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1188720"/>
            <a:ext cx="1828800" cy="914400"/>
          </a:xfrm>
          <a:prstGeom prst="rect">
            <a:avLst/>
          </a:prstGeom>
          <a:solidFill>
            <a:srgbClr val="FFD54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98.73%</a:t>
            </a:r>
          </a:p>
          <a:p>
            <a:r>
              <a:t>Success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188720"/>
            <a:ext cx="2194560" cy="914400"/>
          </a:xfrm>
          <a:prstGeom prst="rect">
            <a:avLst/>
          </a:prstGeom>
          <a:solidFill>
            <a:srgbClr val="CE93D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30 Minutes</a:t>
            </a:r>
          </a:p>
          <a:p>
            <a:r>
              <a:t>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82296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Extracted from Real 237-Page Medical Document:</a:t>
            </a:r>
          </a:p>
          <a:p>
            <a:endParaRPr/>
          </a:p>
          <a:p>
            <a:r>
              <a:t>Medications: 220 entries</a:t>
            </a:r>
          </a:p>
          <a:p>
            <a:r>
              <a:t>• JARDIANCE 25mg, Triamcinolone, Econazole, Valsartan</a:t>
            </a:r>
          </a:p>
          <a:p>
            <a:endParaRPr/>
          </a:p>
          <a:p>
            <a:r>
              <a:t>Diagnoses: 367 entries</a:t>
            </a:r>
          </a:p>
          <a:p>
            <a:r>
              <a:t>• Prostate cancer (Gleason 4+4=8), Hypertension, Diabetes</a:t>
            </a:r>
          </a:p>
          <a:p>
            <a:endParaRPr/>
          </a:p>
          <a:p>
            <a:r>
              <a:t>Test Results: 707 entries</a:t>
            </a:r>
          </a:p>
          <a:p>
            <a:r>
              <a:t>• Temperature, HDL Cholesterol, Prostate biopsy</a:t>
            </a:r>
          </a:p>
          <a:p>
            <a:endParaRPr/>
          </a:p>
          <a:p>
            <a:r>
              <a:t>Page Categories: 470 classifications</a:t>
            </a:r>
          </a:p>
          <a:p>
            <a:r>
              <a:t>• Lab results, Visit notes, Imaging, Prescriptions</a:t>
            </a:r>
          </a:p>
          <a:p>
            <a:endParaRPr/>
          </a:p>
          <a:p>
            <a:r>
              <a:t>Processing: Upload 13:08:20, Complete ~30 min</a:t>
            </a:r>
          </a:p>
          <a:p>
            <a:r>
              <a:t>Average: 7.6 seconds per page</a:t>
            </a:r>
          </a:p>
          <a:p>
            <a:r>
              <a:t>Cost: .31 total (.022/page)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Annual Cost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1,000 Documents/Year (237,000 pages):</a:t>
            </a:r>
          </a:p>
          <a:p>
            <a:endParaRPr/>
          </a:p>
          <a:p>
            <a:r>
              <a:t>Bedrock (Claude 3.5):      ,270/year</a:t>
            </a:r>
          </a:p>
          <a:p>
            <a:r>
              <a:t>Lambda (4 functions):      /year</a:t>
            </a:r>
          </a:p>
          <a:p>
            <a:r>
              <a:t>SQS (2 FIFO queues):       /year</a:t>
            </a:r>
          </a:p>
          <a:p>
            <a:r>
              <a:t>DynamoDB (7 tables):       /year</a:t>
            </a:r>
          </a:p>
          <a:p>
            <a:r>
              <a:t>S3 Storage:                /year</a:t>
            </a:r>
          </a:p>
          <a:p>
            <a:r>
              <a:t>API Gateway:               /year</a:t>
            </a:r>
          </a:p>
          <a:p>
            <a:r>
              <a:t>Amplify (frontend):        /year</a:t>
            </a:r>
          </a:p>
          <a:p>
            <a:r>
              <a:t>──────────────────────────────────────</a:t>
            </a:r>
          </a:p>
          <a:p>
            <a:r>
              <a:t>Total Annual Cost:         ,320/year</a:t>
            </a:r>
          </a:p>
          <a:p>
            <a:r>
              <a:t>Per Document:              .32</a:t>
            </a:r>
          </a:p>
          <a:p>
            <a:r>
              <a:t>Per Page:                  .027</a:t>
            </a:r>
          </a:p>
          <a:p>
            <a:endParaRPr/>
          </a:p>
          <a:p>
            <a:r>
              <a:t>Before Optimization:       ,180/year</a:t>
            </a:r>
          </a:p>
          <a:p>
            <a:endParaRPr/>
          </a:p>
          <a:p>
            <a:r>
              <a:t>SAVINGS:                   ,860/year (86%)</a:t>
            </a:r>
          </a:p>
          <a:p>
            <a:endParaRPr/>
          </a:p>
          <a:p>
            <a:r>
              <a:t>Break-Even: After 100 documents (1.2 months)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ROI vs. Manual Data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Manual Medical Records Entry (Industry):</a:t>
            </a:r>
          </a:p>
          <a:p>
            <a:r>
              <a:t>• Cost: .50 - .50 per page</a:t>
            </a:r>
          </a:p>
          <a:p>
            <a:r>
              <a:t>• Time: 10-15 minutes per page</a:t>
            </a:r>
          </a:p>
          <a:p>
            <a:r>
              <a:t>• 237 pages:  - </a:t>
            </a:r>
          </a:p>
          <a:p>
            <a:endParaRPr/>
          </a:p>
          <a:p>
            <a:r>
              <a:t>HealthAI Automated:</a:t>
            </a:r>
          </a:p>
          <a:p>
            <a:r>
              <a:t>• Cost: .022 per page</a:t>
            </a:r>
          </a:p>
          <a:p>
            <a:r>
              <a:t>• Time: 7.6 seconds per page</a:t>
            </a:r>
          </a:p>
          <a:p>
            <a:r>
              <a:t>• 237 pages: .21</a:t>
            </a:r>
          </a:p>
          <a:p>
            <a:endParaRPr/>
          </a:p>
          <a:p>
            <a:r>
              <a:t>Savings per Document:</a:t>
            </a:r>
          </a:p>
          <a:p>
            <a:r>
              <a:t>• Cost: .79 - .79 (96-98% reduction)</a:t>
            </a:r>
          </a:p>
          <a:p>
            <a:r>
              <a:t>• Time: 39.5 - 59 hours → 30 min (99% reduction)</a:t>
            </a:r>
          </a:p>
          <a:p>
            <a:endParaRPr/>
          </a:p>
          <a:p>
            <a:r>
              <a:t>Annual Savings (1,000 docs):</a:t>
            </a:r>
          </a:p>
          <a:p>
            <a:r>
              <a:t>• Cost: ,790 - ,790 saved</a:t>
            </a:r>
          </a:p>
          <a:p>
            <a:r>
              <a:t>• Time: 39,500 - 59,000 hours → 500 hours</a:t>
            </a:r>
          </a:p>
          <a:p>
            <a:r>
              <a:t>• ROI: 1,800% - 5,500%</a:t>
            </a:r>
          </a:p>
          <a:p>
            <a:endParaRPr/>
          </a:p>
          <a:p>
            <a:r>
              <a:t>Benefits: Faster care, consistent quality,</a:t>
            </a:r>
          </a:p>
          <a:p>
            <a:r>
              <a:t>scalable, audit trail, HIPAA ready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Processing Timeline - 237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1371600"/>
            <a:ext cx="2103120" cy="548640"/>
          </a:xfrm>
          <a:prstGeom prst="rect">
            <a:avLst/>
          </a:prstGeom>
          <a:solidFill>
            <a:srgbClr val="76CA8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Upload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508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PDF to S3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057400"/>
            <a:ext cx="2103120" cy="548640"/>
          </a:xfrm>
          <a:prstGeom prst="rect">
            <a:avLst/>
          </a:prstGeom>
          <a:solidFill>
            <a:srgbClr val="FF9F4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945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DynamoDB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2743200"/>
            <a:ext cx="2103120" cy="548640"/>
          </a:xfrm>
          <a:prstGeom prst="rect">
            <a:avLst/>
          </a:prstGeom>
          <a:solidFill>
            <a:srgbClr val="FF9F40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Convert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80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PNG/WebP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290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3429000"/>
            <a:ext cx="2103120" cy="548640"/>
          </a:xfrm>
          <a:prstGeom prst="rect">
            <a:avLst/>
          </a:prstGeom>
          <a:solidFill>
            <a:srgbClr val="FF6384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234 pages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4114800"/>
            <a:ext cx="2103120" cy="548640"/>
          </a:xfrm>
          <a:prstGeom prst="rect">
            <a:avLst/>
          </a:prstGeom>
          <a:solidFill>
            <a:srgbClr val="9966FF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AI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251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10 parallel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00600"/>
            <a:ext cx="1097280" cy="548640"/>
          </a:xfrm>
          <a:prstGeom prst="rect">
            <a:avLst/>
          </a:prstGeom>
          <a:solidFill>
            <a:srgbClr val="DCDCDC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00:30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4800600"/>
            <a:ext cx="2103120" cy="548640"/>
          </a:xfrm>
          <a:prstGeom prst="rect">
            <a:avLst/>
          </a:prstGeom>
          <a:solidFill>
            <a:srgbClr val="C8FFC8"/>
          </a:solidFill>
          <a:ln w="25400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/>
            </a:pPr>
            <a:r>
              <a:t>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1,294 pts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99"/>
                </a:solidFill>
              </a:defRPr>
            </a:pPr>
            <a:r>
              <a:t>Conclusion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Production-Ready Medical Document Processing</a:t>
            </a:r>
          </a:p>
          <a:p>
            <a:endParaRPr/>
          </a:p>
          <a:p>
            <a:r>
              <a:t>Status: Fully Operational</a:t>
            </a:r>
          </a:p>
          <a:p>
            <a:r>
              <a:t>• 98.73% success rate on 237-page document</a:t>
            </a:r>
          </a:p>
          <a:p>
            <a:r>
              <a:t>• .022/page (96-98% cheaper than manual)</a:t>
            </a:r>
          </a:p>
          <a:p>
            <a:r>
              <a:t>• 7.6 sec/page (99% faster)</a:t>
            </a:r>
          </a:p>
          <a:p>
            <a:r>
              <a:t>• 1,294 data points with high accuracy</a:t>
            </a:r>
          </a:p>
          <a:p>
            <a:endParaRPr/>
          </a:p>
          <a:p>
            <a:r>
              <a:t>Achievements:</a:t>
            </a:r>
          </a:p>
          <a:p>
            <a:r>
              <a:t>✓ 88% cost reduction (.18 → .31)</a:t>
            </a:r>
          </a:p>
          <a:p>
            <a:r>
              <a:t>✓ 7x speed improvement (3.5hr → 30min)</a:t>
            </a:r>
          </a:p>
          <a:p>
            <a:r>
              <a:t>✓ 95% fewer throttling errors</a:t>
            </a:r>
          </a:p>
          <a:p>
            <a:r>
              <a:t>✓ Scalable with Bedrock quota increase</a:t>
            </a:r>
          </a:p>
          <a:p>
            <a:endParaRPr/>
          </a:p>
          <a:p>
            <a:r>
              <a:t>Recommendations:</a:t>
            </a:r>
          </a:p>
          <a:p>
            <a:r>
              <a:t>1. Request Bedrock quota to 100 req/sec</a:t>
            </a:r>
          </a:p>
          <a:p>
            <a:r>
              <a:t>2. Sign AWS BAA for HIPAA compliance</a:t>
            </a:r>
          </a:p>
          <a:p>
            <a:r>
              <a:t>3. Enable monitoring &amp; alarms</a:t>
            </a:r>
          </a:p>
          <a:p>
            <a:r>
              <a:t>4. Implement prompt caching (50% savings)</a:t>
            </a:r>
          </a:p>
          <a:p>
            <a:r>
              <a:t>5. Add Cognito authentication</a:t>
            </a:r>
          </a:p>
          <a:p>
            <a:endParaRPr/>
          </a:p>
          <a:p>
            <a:r>
              <a:t>Investment: ,320/year for 1,000 docs</a:t>
            </a:r>
          </a:p>
          <a:p>
            <a:r>
              <a:t>ROI: 1,800% - 5,500%</a:t>
            </a:r>
          </a:p>
          <a:p>
            <a:endParaRPr/>
          </a:p>
          <a:p>
            <a:r>
              <a:t>Ready for Production!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903</Words>
  <Application>Microsoft Office PowerPoint</Application>
  <PresentationFormat>On-screen Show (4:3)</PresentationFormat>
  <Paragraphs>214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HealthAI Medical Document Processing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charles mccarthy</cp:lastModifiedBy>
  <cp:revision>1</cp:revision>
  <dcterms:created xsi:type="dcterms:W3CDTF">2013-01-27T09:14:16Z</dcterms:created>
  <dcterms:modified xsi:type="dcterms:W3CDTF">2025-12-15T11:50:57Z</dcterms:modified>
  <cp:category/>
</cp:coreProperties>
</file>