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9" r:id="rId5"/>
    <p:sldId id="267" r:id="rId6"/>
    <p:sldId id="261" r:id="rId7"/>
    <p:sldId id="258" r:id="rId8"/>
    <p:sldId id="262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C6F72-170A-4F1C-A3BB-4A2404FC5A19}" v="6" dt="2026-01-12T21:22:46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6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es mccarthy" userId="c6971f366e65dfa3" providerId="LiveId" clId="{BAF8EF68-B7AB-4503-9648-829263EF8DA0}"/>
    <pc:docChg chg="undo custSel addSld delSld modSld sldOrd">
      <pc:chgData name="charles mccarthy" userId="c6971f366e65dfa3" providerId="LiveId" clId="{BAF8EF68-B7AB-4503-9648-829263EF8DA0}" dt="2026-01-12T21:28:49.960" v="481" actId="20577"/>
      <pc:docMkLst>
        <pc:docMk/>
      </pc:docMkLst>
      <pc:sldChg chg="modSp mod">
        <pc:chgData name="charles mccarthy" userId="c6971f366e65dfa3" providerId="LiveId" clId="{BAF8EF68-B7AB-4503-9648-829263EF8DA0}" dt="2026-01-12T21:18:44.775" v="200" actId="113"/>
        <pc:sldMkLst>
          <pc:docMk/>
          <pc:sldMk cId="0" sldId="256"/>
        </pc:sldMkLst>
        <pc:spChg chg="mod">
          <ac:chgData name="charles mccarthy" userId="c6971f366e65dfa3" providerId="LiveId" clId="{BAF8EF68-B7AB-4503-9648-829263EF8DA0}" dt="2026-01-12T21:18:44.775" v="200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charles mccarthy" userId="c6971f366e65dfa3" providerId="LiveId" clId="{BAF8EF68-B7AB-4503-9648-829263EF8DA0}" dt="2026-01-12T21:17:26.240" v="199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charles mccarthy" userId="c6971f366e65dfa3" providerId="LiveId" clId="{BAF8EF68-B7AB-4503-9648-829263EF8DA0}" dt="2026-01-12T21:19:38.431" v="207" actId="20577"/>
        <pc:sldMkLst>
          <pc:docMk/>
          <pc:sldMk cId="0" sldId="257"/>
        </pc:sldMkLst>
        <pc:spChg chg="mod">
          <ac:chgData name="charles mccarthy" userId="c6971f366e65dfa3" providerId="LiveId" clId="{BAF8EF68-B7AB-4503-9648-829263EF8DA0}" dt="2026-01-12T21:17:10.390" v="194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charles mccarthy" userId="c6971f366e65dfa3" providerId="LiveId" clId="{BAF8EF68-B7AB-4503-9648-829263EF8DA0}" dt="2026-01-12T21:19:38.431" v="207" actId="20577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charles mccarthy" userId="c6971f366e65dfa3" providerId="LiveId" clId="{BAF8EF68-B7AB-4503-9648-829263EF8DA0}" dt="2025-12-15T11:50:29.826" v="28" actId="14100"/>
          <ac:spMkLst>
            <pc:docMk/>
            <pc:sldMk cId="0" sldId="257"/>
            <ac:spMk id="11" creationId="{E69F6AC6-695A-0F18-6A27-2714DD508045}"/>
          </ac:spMkLst>
        </pc:spChg>
        <pc:picChg chg="add mod">
          <ac:chgData name="charles mccarthy" userId="c6971f366e65dfa3" providerId="LiveId" clId="{BAF8EF68-B7AB-4503-9648-829263EF8DA0}" dt="2025-12-15T11:50:35.474" v="30" actId="14100"/>
          <ac:picMkLst>
            <pc:docMk/>
            <pc:sldMk cId="0" sldId="257"/>
            <ac:picMk id="7" creationId="{168DB404-2A5F-3252-A68E-D8AC1C14619C}"/>
          </ac:picMkLst>
        </pc:picChg>
        <pc:picChg chg="add mod">
          <ac:chgData name="charles mccarthy" userId="c6971f366e65dfa3" providerId="LiveId" clId="{BAF8EF68-B7AB-4503-9648-829263EF8DA0}" dt="2025-12-15T11:50:33.281" v="29" actId="1076"/>
          <ac:picMkLst>
            <pc:docMk/>
            <pc:sldMk cId="0" sldId="257"/>
            <ac:picMk id="8" creationId="{730A2E91-AF63-F13B-556C-23AF8DED552C}"/>
          </ac:picMkLst>
        </pc:picChg>
        <pc:picChg chg="add mod">
          <ac:chgData name="charles mccarthy" userId="c6971f366e65dfa3" providerId="LiveId" clId="{BAF8EF68-B7AB-4503-9648-829263EF8DA0}" dt="2025-12-15T11:50:14.994" v="22" actId="14100"/>
          <ac:picMkLst>
            <pc:docMk/>
            <pc:sldMk cId="0" sldId="257"/>
            <ac:picMk id="9" creationId="{477D5F82-D7AB-D74E-028D-0F65CA16FA10}"/>
          </ac:picMkLst>
        </pc:picChg>
        <pc:picChg chg="add mod">
          <ac:chgData name="charles mccarthy" userId="c6971f366e65dfa3" providerId="LiveId" clId="{BAF8EF68-B7AB-4503-9648-829263EF8DA0}" dt="2025-12-15T11:50:14.994" v="22" actId="14100"/>
          <ac:picMkLst>
            <pc:docMk/>
            <pc:sldMk cId="0" sldId="257"/>
            <ac:picMk id="10" creationId="{F428F7E8-64F5-AE52-DFF5-20C2F89424F4}"/>
          </ac:picMkLst>
        </pc:picChg>
        <pc:picChg chg="add mod">
          <ac:chgData name="charles mccarthy" userId="c6971f366e65dfa3" providerId="LiveId" clId="{BAF8EF68-B7AB-4503-9648-829263EF8DA0}" dt="2025-12-15T11:50:14.994" v="22" actId="14100"/>
          <ac:picMkLst>
            <pc:docMk/>
            <pc:sldMk cId="0" sldId="257"/>
            <ac:picMk id="12" creationId="{6F0EA788-53E2-8066-F76F-8C2A0AD8D213}"/>
          </ac:picMkLst>
        </pc:picChg>
        <pc:cxnChg chg="add mod">
          <ac:chgData name="charles mccarthy" userId="c6971f366e65dfa3" providerId="LiveId" clId="{BAF8EF68-B7AB-4503-9648-829263EF8DA0}" dt="2025-12-15T11:50:14.994" v="22" actId="14100"/>
          <ac:cxnSpMkLst>
            <pc:docMk/>
            <pc:sldMk cId="0" sldId="257"/>
            <ac:cxnSpMk id="13" creationId="{2D46D0F5-F7C7-A3ED-4DC3-0726A263C877}"/>
          </ac:cxnSpMkLst>
        </pc:cxnChg>
        <pc:cxnChg chg="add mod">
          <ac:chgData name="charles mccarthy" userId="c6971f366e65dfa3" providerId="LiveId" clId="{BAF8EF68-B7AB-4503-9648-829263EF8DA0}" dt="2025-12-15T11:50:14.994" v="22" actId="14100"/>
          <ac:cxnSpMkLst>
            <pc:docMk/>
            <pc:sldMk cId="0" sldId="257"/>
            <ac:cxnSpMk id="14" creationId="{27203856-D7AF-4F2D-189C-81D085EB888F}"/>
          </ac:cxnSpMkLst>
        </pc:cxnChg>
        <pc:cxnChg chg="add mod">
          <ac:chgData name="charles mccarthy" userId="c6971f366e65dfa3" providerId="LiveId" clId="{BAF8EF68-B7AB-4503-9648-829263EF8DA0}" dt="2025-12-15T11:50:14.994" v="22" actId="14100"/>
          <ac:cxnSpMkLst>
            <pc:docMk/>
            <pc:sldMk cId="0" sldId="257"/>
            <ac:cxnSpMk id="15" creationId="{1AF288A3-B8BA-9569-8AFD-CB482D2DA714}"/>
          </ac:cxnSpMkLst>
        </pc:cxnChg>
        <pc:cxnChg chg="add mod">
          <ac:chgData name="charles mccarthy" userId="c6971f366e65dfa3" providerId="LiveId" clId="{BAF8EF68-B7AB-4503-9648-829263EF8DA0}" dt="2025-12-15T11:50:36.888" v="31" actId="1076"/>
          <ac:cxnSpMkLst>
            <pc:docMk/>
            <pc:sldMk cId="0" sldId="257"/>
            <ac:cxnSpMk id="17" creationId="{ED05C135-B182-2AA8-A464-44BAFE75EAD2}"/>
          </ac:cxnSpMkLst>
        </pc:cxnChg>
      </pc:sldChg>
      <pc:sldChg chg="delSp mod ord">
        <pc:chgData name="charles mccarthy" userId="c6971f366e65dfa3" providerId="LiveId" clId="{BAF8EF68-B7AB-4503-9648-829263EF8DA0}" dt="2026-01-12T11:45:46.419" v="150" actId="478"/>
        <pc:sldMkLst>
          <pc:docMk/>
          <pc:sldMk cId="0" sldId="258"/>
        </pc:sldMkLst>
        <pc:spChg chg="del">
          <ac:chgData name="charles mccarthy" userId="c6971f366e65dfa3" providerId="LiveId" clId="{BAF8EF68-B7AB-4503-9648-829263EF8DA0}" dt="2026-01-12T11:45:46.419" v="150" actId="478"/>
          <ac:spMkLst>
            <pc:docMk/>
            <pc:sldMk cId="0" sldId="258"/>
            <ac:spMk id="2" creationId="{00000000-0000-0000-0000-000000000000}"/>
          </ac:spMkLst>
        </pc:spChg>
      </pc:sldChg>
      <pc:sldChg chg="addSp delSp modSp mod">
        <pc:chgData name="charles mccarthy" userId="c6971f366e65dfa3" providerId="LiveId" clId="{BAF8EF68-B7AB-4503-9648-829263EF8DA0}" dt="2026-01-12T11:45:58.679" v="151" actId="1076"/>
        <pc:sldMkLst>
          <pc:docMk/>
          <pc:sldMk cId="0" sldId="259"/>
        </pc:sldMkLst>
        <pc:spChg chg="del mod">
          <ac:chgData name="charles mccarthy" userId="c6971f366e65dfa3" providerId="LiveId" clId="{BAF8EF68-B7AB-4503-9648-829263EF8DA0}" dt="2026-01-12T11:26:38.831" v="61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charles mccarthy" userId="c6971f366e65dfa3" providerId="LiveId" clId="{BAF8EF68-B7AB-4503-9648-829263EF8DA0}" dt="2026-01-12T11:27:45.597" v="120" actId="20577"/>
          <ac:spMkLst>
            <pc:docMk/>
            <pc:sldMk cId="0" sldId="259"/>
            <ac:spMk id="3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6.149" v="59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6.149" v="59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6.149" v="59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3.357" v="58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3.357" v="58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3.357" v="58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3.357" v="58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3.357" v="58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3.357" v="58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3.357" v="58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3.357" v="58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3.357" v="58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charles mccarthy" userId="c6971f366e65dfa3" providerId="LiveId" clId="{BAF8EF68-B7AB-4503-9648-829263EF8DA0}" dt="2026-01-12T11:26:33.357" v="58" actId="478"/>
          <ac:spMkLst>
            <pc:docMk/>
            <pc:sldMk cId="0" sldId="259"/>
            <ac:spMk id="27" creationId="{00000000-0000-0000-0000-000000000000}"/>
          </ac:spMkLst>
        </pc:spChg>
        <pc:spChg chg="add mod">
          <ac:chgData name="charles mccarthy" userId="c6971f366e65dfa3" providerId="LiveId" clId="{BAF8EF68-B7AB-4503-9648-829263EF8DA0}" dt="2026-01-12T11:45:58.679" v="151" actId="1076"/>
          <ac:spMkLst>
            <pc:docMk/>
            <pc:sldMk cId="0" sldId="259"/>
            <ac:spMk id="28" creationId="{EA9CF6AA-2977-84A7-0DAC-F198C8E76F6A}"/>
          </ac:spMkLst>
        </pc:spChg>
      </pc:sldChg>
      <pc:sldChg chg="delSp modSp del mod">
        <pc:chgData name="charles mccarthy" userId="c6971f366e65dfa3" providerId="LiveId" clId="{BAF8EF68-B7AB-4503-9648-829263EF8DA0}" dt="2026-01-12T11:27:53.415" v="121" actId="47"/>
        <pc:sldMkLst>
          <pc:docMk/>
          <pc:sldMk cId="0" sldId="260"/>
        </pc:sldMkLst>
        <pc:spChg chg="del">
          <ac:chgData name="charles mccarthy" userId="c6971f366e65dfa3" providerId="LiveId" clId="{BAF8EF68-B7AB-4503-9648-829263EF8DA0}" dt="2026-01-12T11:26:21.479" v="56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charles mccarthy" userId="c6971f366e65dfa3" providerId="LiveId" clId="{BAF8EF68-B7AB-4503-9648-829263EF8DA0}" dt="2026-01-12T11:26:26.462" v="57" actId="1076"/>
          <ac:spMkLst>
            <pc:docMk/>
            <pc:sldMk cId="0" sldId="260"/>
            <ac:spMk id="4" creationId="{00000000-0000-0000-0000-000000000000}"/>
          </ac:spMkLst>
        </pc:spChg>
      </pc:sldChg>
      <pc:sldChg chg="addSp delSp mod">
        <pc:chgData name="charles mccarthy" userId="c6971f366e65dfa3" providerId="LiveId" clId="{BAF8EF68-B7AB-4503-9648-829263EF8DA0}" dt="2026-01-12T11:26:13.258" v="55" actId="478"/>
        <pc:sldMkLst>
          <pc:docMk/>
          <pc:sldMk cId="0" sldId="261"/>
        </pc:sldMkLst>
        <pc:spChg chg="del">
          <ac:chgData name="charles mccarthy" userId="c6971f366e65dfa3" providerId="LiveId" clId="{BAF8EF68-B7AB-4503-9648-829263EF8DA0}" dt="2026-01-12T11:26:13.258" v="55" actId="478"/>
          <ac:spMkLst>
            <pc:docMk/>
            <pc:sldMk cId="0" sldId="261"/>
            <ac:spMk id="2" creationId="{00000000-0000-0000-0000-000000000000}"/>
          </ac:spMkLst>
        </pc:spChg>
        <pc:spChg chg="add del">
          <ac:chgData name="charles mccarthy" userId="c6971f366e65dfa3" providerId="LiveId" clId="{BAF8EF68-B7AB-4503-9648-829263EF8DA0}" dt="2026-01-12T11:26:09.454" v="54" actId="478"/>
          <ac:spMkLst>
            <pc:docMk/>
            <pc:sldMk cId="0" sldId="261"/>
            <ac:spMk id="3" creationId="{00000000-0000-0000-0000-000000000000}"/>
          </ac:spMkLst>
        </pc:spChg>
      </pc:sldChg>
      <pc:sldChg chg="delSp modSp mod">
        <pc:chgData name="charles mccarthy" userId="c6971f366e65dfa3" providerId="LiveId" clId="{BAF8EF68-B7AB-4503-9648-829263EF8DA0}" dt="2026-01-12T11:25:59.383" v="52" actId="478"/>
        <pc:sldMkLst>
          <pc:docMk/>
          <pc:sldMk cId="0" sldId="262"/>
        </pc:sldMkLst>
        <pc:spChg chg="del mod">
          <ac:chgData name="charles mccarthy" userId="c6971f366e65dfa3" providerId="LiveId" clId="{BAF8EF68-B7AB-4503-9648-829263EF8DA0}" dt="2026-01-12T11:25:59.383" v="52" actId="478"/>
          <ac:spMkLst>
            <pc:docMk/>
            <pc:sldMk cId="0" sldId="262"/>
            <ac:spMk id="2" creationId="{00000000-0000-0000-0000-000000000000}"/>
          </ac:spMkLst>
        </pc:spChg>
      </pc:sldChg>
      <pc:sldChg chg="del">
        <pc:chgData name="charles mccarthy" userId="c6971f366e65dfa3" providerId="LiveId" clId="{BAF8EF68-B7AB-4503-9648-829263EF8DA0}" dt="2026-01-12T11:25:51.099" v="50" actId="47"/>
        <pc:sldMkLst>
          <pc:docMk/>
          <pc:sldMk cId="0" sldId="263"/>
        </pc:sldMkLst>
      </pc:sldChg>
      <pc:sldChg chg="del">
        <pc:chgData name="charles mccarthy" userId="c6971f366e65dfa3" providerId="LiveId" clId="{BAF8EF68-B7AB-4503-9648-829263EF8DA0}" dt="2026-01-12T11:25:49.308" v="49" actId="47"/>
        <pc:sldMkLst>
          <pc:docMk/>
          <pc:sldMk cId="0" sldId="264"/>
        </pc:sldMkLst>
      </pc:sldChg>
      <pc:sldChg chg="del">
        <pc:chgData name="charles mccarthy" userId="c6971f366e65dfa3" providerId="LiveId" clId="{BAF8EF68-B7AB-4503-9648-829263EF8DA0}" dt="2026-01-12T11:25:47.162" v="48" actId="47"/>
        <pc:sldMkLst>
          <pc:docMk/>
          <pc:sldMk cId="0" sldId="265"/>
        </pc:sldMkLst>
      </pc:sldChg>
      <pc:sldChg chg="delSp modSp mod">
        <pc:chgData name="charles mccarthy" userId="c6971f366e65dfa3" providerId="LiveId" clId="{BAF8EF68-B7AB-4503-9648-829263EF8DA0}" dt="2026-01-12T11:25:42.054" v="47" actId="1076"/>
        <pc:sldMkLst>
          <pc:docMk/>
          <pc:sldMk cId="0" sldId="266"/>
        </pc:sldMkLst>
        <pc:spChg chg="del mod">
          <ac:chgData name="charles mccarthy" userId="c6971f366e65dfa3" providerId="LiveId" clId="{BAF8EF68-B7AB-4503-9648-829263EF8DA0}" dt="2026-01-12T11:25:39.380" v="46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charles mccarthy" userId="c6971f366e65dfa3" providerId="LiveId" clId="{BAF8EF68-B7AB-4503-9648-829263EF8DA0}" dt="2026-01-12T11:25:37.448" v="45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charles mccarthy" userId="c6971f366e65dfa3" providerId="LiveId" clId="{BAF8EF68-B7AB-4503-9648-829263EF8DA0}" dt="2026-01-12T11:25:42.054" v="47" actId="1076"/>
          <ac:spMkLst>
            <pc:docMk/>
            <pc:sldMk cId="0" sldId="266"/>
            <ac:spMk id="4" creationId="{00000000-0000-0000-0000-000000000000}"/>
          </ac:spMkLst>
        </pc:spChg>
      </pc:sldChg>
      <pc:sldChg chg="modSp add mod">
        <pc:chgData name="charles mccarthy" userId="c6971f366e65dfa3" providerId="LiveId" clId="{BAF8EF68-B7AB-4503-9648-829263EF8DA0}" dt="2026-01-12T11:29:37.138" v="145" actId="20577"/>
        <pc:sldMkLst>
          <pc:docMk/>
          <pc:sldMk cId="4016603785" sldId="267"/>
        </pc:sldMkLst>
        <pc:spChg chg="mod">
          <ac:chgData name="charles mccarthy" userId="c6971f366e65dfa3" providerId="LiveId" clId="{BAF8EF68-B7AB-4503-9648-829263EF8DA0}" dt="2026-01-12T11:29:37.138" v="145" actId="20577"/>
          <ac:spMkLst>
            <pc:docMk/>
            <pc:sldMk cId="4016603785" sldId="267"/>
            <ac:spMk id="28" creationId="{D8BE4BA0-0605-5EB2-8A7B-E549FB8EFE65}"/>
          </ac:spMkLst>
        </pc:spChg>
      </pc:sldChg>
      <pc:sldChg chg="modSp add mod">
        <pc:chgData name="charles mccarthy" userId="c6971f366e65dfa3" providerId="LiveId" clId="{BAF8EF68-B7AB-4503-9648-829263EF8DA0}" dt="2026-01-12T21:28:49.960" v="481" actId="20577"/>
        <pc:sldMkLst>
          <pc:docMk/>
          <pc:sldMk cId="3772832546" sldId="268"/>
        </pc:sldMkLst>
        <pc:spChg chg="mod">
          <ac:chgData name="charles mccarthy" userId="c6971f366e65dfa3" providerId="LiveId" clId="{BAF8EF68-B7AB-4503-9648-829263EF8DA0}" dt="2026-01-12T21:20:06.664" v="216" actId="20577"/>
          <ac:spMkLst>
            <pc:docMk/>
            <pc:sldMk cId="3772832546" sldId="268"/>
            <ac:spMk id="3" creationId="{75CF4511-2D76-84C9-9332-44EC0517B03C}"/>
          </ac:spMkLst>
        </pc:spChg>
        <pc:spChg chg="mod">
          <ac:chgData name="charles mccarthy" userId="c6971f366e65dfa3" providerId="LiveId" clId="{BAF8EF68-B7AB-4503-9648-829263EF8DA0}" dt="2026-01-12T21:28:49.960" v="481" actId="20577"/>
          <ac:spMkLst>
            <pc:docMk/>
            <pc:sldMk cId="3772832546" sldId="268"/>
            <ac:spMk id="4" creationId="{0658D8D6-9C08-7910-3A0B-12F24834D7E9}"/>
          </ac:spMkLst>
        </pc:spChg>
        <pc:spChg chg="mod">
          <ac:chgData name="charles mccarthy" userId="c6971f366e65dfa3" providerId="LiveId" clId="{BAF8EF68-B7AB-4503-9648-829263EF8DA0}" dt="2026-01-12T21:23:01.725" v="419" actId="313"/>
          <ac:spMkLst>
            <pc:docMk/>
            <pc:sldMk cId="3772832546" sldId="268"/>
            <ac:spMk id="11" creationId="{8D670C99-C14C-2F49-619E-E7AC8BE4904B}"/>
          </ac:spMkLst>
        </pc:spChg>
        <pc:picChg chg="mod">
          <ac:chgData name="charles mccarthy" userId="c6971f366e65dfa3" providerId="LiveId" clId="{BAF8EF68-B7AB-4503-9648-829263EF8DA0}" dt="2026-01-12T21:22:42.121" v="417" actId="14100"/>
          <ac:picMkLst>
            <pc:docMk/>
            <pc:sldMk cId="3772832546" sldId="268"/>
            <ac:picMk id="10" creationId="{00CD0568-2606-8212-BE04-74B482FF111F}"/>
          </ac:picMkLst>
        </pc:picChg>
        <pc:picChg chg="mod">
          <ac:chgData name="charles mccarthy" userId="c6971f366e65dfa3" providerId="LiveId" clId="{BAF8EF68-B7AB-4503-9648-829263EF8DA0}" dt="2026-01-12T21:22:46.068" v="418" actId="14100"/>
          <ac:picMkLst>
            <pc:docMk/>
            <pc:sldMk cId="3772832546" sldId="268"/>
            <ac:picMk id="12" creationId="{9B4ED7DD-AD17-5CCB-4C49-B56F8A93A02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9210"/>
            <a:ext cx="7772400" cy="1470025"/>
          </a:xfrm>
        </p:spPr>
        <p:txBody>
          <a:bodyPr/>
          <a:lstStyle/>
          <a:p>
            <a:pPr>
              <a:defRPr sz="4000">
                <a:solidFill>
                  <a:srgbClr val="006699"/>
                </a:solidFill>
              </a:defRPr>
            </a:pPr>
            <a:r>
              <a:rPr b="1" dirty="0" err="1"/>
              <a:t>HealthAI</a:t>
            </a:r>
            <a:r>
              <a:rPr b="1" dirty="0"/>
              <a:t> Medical Document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16166"/>
            <a:ext cx="6400800" cy="1752600"/>
          </a:xfrm>
        </p:spPr>
        <p:txBody>
          <a:bodyPr/>
          <a:lstStyle/>
          <a:p>
            <a:r>
              <a:rPr dirty="0"/>
              <a:t>AWS Architecture, Costs &amp; Performance</a:t>
            </a:r>
          </a:p>
          <a:p>
            <a:r>
              <a:rPr dirty="0"/>
              <a:t>202</a:t>
            </a:r>
            <a:r>
              <a:rPr lang="en-IE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48445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99"/>
                </a:solidFill>
              </a:defRPr>
            </a:pPr>
            <a:r>
              <a:rPr lang="en-IE" dirty="0"/>
              <a:t>AI-Doctor </a:t>
            </a:r>
            <a:r>
              <a:rPr dirty="0"/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43368"/>
            <a:ext cx="6100324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AI-Powered Medical Processing</a:t>
            </a:r>
          </a:p>
          <a:p>
            <a:endParaRPr dirty="0"/>
          </a:p>
          <a:p>
            <a:r>
              <a:rPr dirty="0"/>
              <a:t>• Claude </a:t>
            </a:r>
            <a:r>
              <a:rPr lang="en-IE" dirty="0"/>
              <a:t>4</a:t>
            </a:r>
            <a:r>
              <a:rPr dirty="0"/>
              <a:t>.5 Sonnet - Advanced medical data extraction</a:t>
            </a:r>
          </a:p>
          <a:p>
            <a:r>
              <a:rPr dirty="0"/>
              <a:t>• Parallel Processing </a:t>
            </a:r>
            <a:r>
              <a:rPr lang="en-IE" dirty="0"/>
              <a:t>–</a:t>
            </a:r>
            <a:r>
              <a:rPr dirty="0"/>
              <a:t> </a:t>
            </a:r>
            <a:r>
              <a:rPr lang="en-IE" dirty="0"/>
              <a:t>10</a:t>
            </a:r>
            <a:r>
              <a:rPr dirty="0"/>
              <a:t>00</a:t>
            </a:r>
            <a:r>
              <a:rPr lang="en-IE" dirty="0"/>
              <a:t>’s</a:t>
            </a:r>
            <a:r>
              <a:rPr dirty="0"/>
              <a:t> pages per hour</a:t>
            </a:r>
          </a:p>
          <a:p>
            <a:r>
              <a:rPr dirty="0"/>
              <a:t>• Cost-Optimized - .0</a:t>
            </a:r>
            <a:r>
              <a:rPr lang="en-IE" dirty="0"/>
              <a:t>5 cent</a:t>
            </a:r>
            <a:r>
              <a:rPr dirty="0"/>
              <a:t> per page (</a:t>
            </a:r>
            <a:r>
              <a:rPr lang="en-IE" dirty="0"/>
              <a:t>huge</a:t>
            </a:r>
            <a:r>
              <a:rPr dirty="0"/>
              <a:t> cost reduction)</a:t>
            </a:r>
          </a:p>
          <a:p>
            <a:r>
              <a:rPr dirty="0"/>
              <a:t>• Fast -  seconds per page average</a:t>
            </a:r>
          </a:p>
          <a:p>
            <a:r>
              <a:rPr dirty="0"/>
              <a:t>• Structured Data - Medications, diagnoses, tests in DynamoDB</a:t>
            </a:r>
          </a:p>
        </p:txBody>
      </p:sp>
      <p:pic>
        <p:nvPicPr>
          <p:cNvPr id="7" name="Picture 2" descr="Ai Logo PNG Images With Transparent ...">
            <a:extLst>
              <a:ext uri="{FF2B5EF4-FFF2-40B4-BE49-F238E27FC236}">
                <a16:creationId xmlns:a16="http://schemas.microsoft.com/office/drawing/2014/main" id="{168DB404-2A5F-3252-A68E-D8AC1C146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373" y="3334394"/>
            <a:ext cx="1804767" cy="1804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act original wordmark logo - Free ...">
            <a:extLst>
              <a:ext uri="{FF2B5EF4-FFF2-40B4-BE49-F238E27FC236}">
                <a16:creationId xmlns:a16="http://schemas.microsoft.com/office/drawing/2014/main" id="{730A2E91-AF63-F13B-556C-23AF8DED5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031" y="3622122"/>
            <a:ext cx="964980" cy="96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Understanding Amazon DynamoDB | AWS in ...">
            <a:extLst>
              <a:ext uri="{FF2B5EF4-FFF2-40B4-BE49-F238E27FC236}">
                <a16:creationId xmlns:a16="http://schemas.microsoft.com/office/drawing/2014/main" id="{477D5F82-D7AB-D74E-028D-0F65CA16F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374" y="5781106"/>
            <a:ext cx="1403865" cy="64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An Introduction to AWS S3: Naming Rules ...">
            <a:extLst>
              <a:ext uri="{FF2B5EF4-FFF2-40B4-BE49-F238E27FC236}">
                <a16:creationId xmlns:a16="http://schemas.microsoft.com/office/drawing/2014/main" id="{F428F7E8-64F5-AE52-DFF5-20C2F8942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026" y="5615313"/>
            <a:ext cx="1242478" cy="93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9F6AC6-695A-0F18-6A27-2714DD508045}"/>
              </a:ext>
            </a:extLst>
          </p:cNvPr>
          <p:cNvSpPr/>
          <p:nvPr/>
        </p:nvSpPr>
        <p:spPr>
          <a:xfrm>
            <a:off x="556118" y="3213126"/>
            <a:ext cx="1094275" cy="33328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Drop docs</a:t>
            </a:r>
          </a:p>
        </p:txBody>
      </p:sp>
      <p:pic>
        <p:nvPicPr>
          <p:cNvPr id="12" name="Picture 10" descr="AWS Lambda Under the Hood - Engineering ...">
            <a:extLst>
              <a:ext uri="{FF2B5EF4-FFF2-40B4-BE49-F238E27FC236}">
                <a16:creationId xmlns:a16="http://schemas.microsoft.com/office/drawing/2014/main" id="{6F0EA788-53E2-8066-F76F-8C2A0AD8D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274" y="3213126"/>
            <a:ext cx="1234021" cy="1217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46D0F5-F7C7-A3ED-4DC3-0726A263C877}"/>
              </a:ext>
            </a:extLst>
          </p:cNvPr>
          <p:cNvCxnSpPr/>
          <p:nvPr/>
        </p:nvCxnSpPr>
        <p:spPr>
          <a:xfrm>
            <a:off x="1785828" y="3593222"/>
            <a:ext cx="235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203856-D7AF-4F2D-189C-81D085EB888F}"/>
              </a:ext>
            </a:extLst>
          </p:cNvPr>
          <p:cNvCxnSpPr/>
          <p:nvPr/>
        </p:nvCxnSpPr>
        <p:spPr>
          <a:xfrm>
            <a:off x="1831250" y="5872323"/>
            <a:ext cx="235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F288A3-B8BA-9569-8AFD-CB482D2DA714}"/>
              </a:ext>
            </a:extLst>
          </p:cNvPr>
          <p:cNvCxnSpPr/>
          <p:nvPr/>
        </p:nvCxnSpPr>
        <p:spPr>
          <a:xfrm>
            <a:off x="3711711" y="3789633"/>
            <a:ext cx="235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DF7E54A-7AE2-E14E-E11A-3DD56B46CA3B}"/>
              </a:ext>
            </a:extLst>
          </p:cNvPr>
          <p:cNvCxnSpPr/>
          <p:nvPr/>
        </p:nvCxnSpPr>
        <p:spPr>
          <a:xfrm>
            <a:off x="6804380" y="4020860"/>
            <a:ext cx="235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D05C135-B182-2AA8-A464-44BAFE75EAD2}"/>
              </a:ext>
            </a:extLst>
          </p:cNvPr>
          <p:cNvCxnSpPr>
            <a:cxnSpLocks/>
          </p:cNvCxnSpPr>
          <p:nvPr/>
        </p:nvCxnSpPr>
        <p:spPr>
          <a:xfrm>
            <a:off x="5391531" y="5426622"/>
            <a:ext cx="0" cy="236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B80BD-BBEE-A7D3-8B4A-3B1996C9A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CF4511-2D76-84C9-9332-44EC0517B03C}"/>
              </a:ext>
            </a:extLst>
          </p:cNvPr>
          <p:cNvSpPr txBox="1"/>
          <p:nvPr/>
        </p:nvSpPr>
        <p:spPr>
          <a:xfrm>
            <a:off x="457200" y="274320"/>
            <a:ext cx="454464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99"/>
                </a:solidFill>
              </a:defRPr>
            </a:pPr>
            <a:r>
              <a:rPr lang="en-IE" dirty="0" err="1"/>
              <a:t>SureBet</a:t>
            </a:r>
            <a:r>
              <a:rPr lang="en-IE" dirty="0"/>
              <a:t> </a:t>
            </a:r>
            <a:r>
              <a:rPr dirty="0"/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8D8D6-9C08-7910-3A0B-12F24834D7E9}"/>
              </a:ext>
            </a:extLst>
          </p:cNvPr>
          <p:cNvSpPr txBox="1"/>
          <p:nvPr/>
        </p:nvSpPr>
        <p:spPr>
          <a:xfrm>
            <a:off x="457200" y="1043368"/>
            <a:ext cx="6675930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lang="en-IE"/>
              <a:t>Super Intelligent </a:t>
            </a:r>
            <a:r>
              <a:t>AI-Powered </a:t>
            </a:r>
            <a:r>
              <a:rPr lang="en-IE" dirty="0"/>
              <a:t>Sports</a:t>
            </a:r>
            <a:r>
              <a:rPr dirty="0"/>
              <a:t> </a:t>
            </a:r>
            <a:r>
              <a:rPr lang="en-IE" dirty="0"/>
              <a:t>Betting</a:t>
            </a:r>
            <a:endParaRPr dirty="0"/>
          </a:p>
          <a:p>
            <a:endParaRPr dirty="0"/>
          </a:p>
          <a:p>
            <a:r>
              <a:rPr dirty="0"/>
              <a:t>• </a:t>
            </a:r>
            <a:r>
              <a:rPr lang="en-IE" dirty="0"/>
              <a:t>LLM</a:t>
            </a:r>
            <a:r>
              <a:rPr dirty="0"/>
              <a:t>- Advanced </a:t>
            </a:r>
            <a:r>
              <a:rPr lang="en-IE" dirty="0"/>
              <a:t>sports analysis</a:t>
            </a:r>
            <a:endParaRPr dirty="0"/>
          </a:p>
          <a:p>
            <a:r>
              <a:rPr dirty="0"/>
              <a:t>• </a:t>
            </a:r>
            <a:r>
              <a:rPr lang="en-IE" dirty="0"/>
              <a:t>API to exchange and fast amounts of data on form, trainers , history</a:t>
            </a:r>
            <a:endParaRPr dirty="0"/>
          </a:p>
          <a:p>
            <a:r>
              <a:rPr dirty="0"/>
              <a:t>• </a:t>
            </a:r>
            <a:r>
              <a:rPr lang="en-IE" dirty="0"/>
              <a:t>Self learning cycles – confidence and stake recommendations</a:t>
            </a:r>
            <a:endParaRPr dirty="0"/>
          </a:p>
          <a:p>
            <a:r>
              <a:rPr dirty="0"/>
              <a:t>• </a:t>
            </a:r>
            <a:r>
              <a:rPr lang="en-IE" dirty="0"/>
              <a:t>ROI &gt; 40%</a:t>
            </a:r>
            <a:endParaRPr dirty="0"/>
          </a:p>
          <a:p>
            <a:r>
              <a:rPr dirty="0"/>
              <a:t>• </a:t>
            </a:r>
            <a:r>
              <a:rPr lang="en-IE" dirty="0"/>
              <a:t>Expands to many stat based sports</a:t>
            </a:r>
            <a:endParaRPr dirty="0"/>
          </a:p>
        </p:txBody>
      </p:sp>
      <p:pic>
        <p:nvPicPr>
          <p:cNvPr id="7" name="Picture 2" descr="Ai Logo PNG Images With Transparent ...">
            <a:extLst>
              <a:ext uri="{FF2B5EF4-FFF2-40B4-BE49-F238E27FC236}">
                <a16:creationId xmlns:a16="http://schemas.microsoft.com/office/drawing/2014/main" id="{94BC76AA-CBCB-BCAE-18F7-70D69BF63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373" y="3334394"/>
            <a:ext cx="1804767" cy="1804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act original wordmark logo - Free ...">
            <a:extLst>
              <a:ext uri="{FF2B5EF4-FFF2-40B4-BE49-F238E27FC236}">
                <a16:creationId xmlns:a16="http://schemas.microsoft.com/office/drawing/2014/main" id="{41760D53-DED8-96D1-4AA2-6696CC287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031" y="3622122"/>
            <a:ext cx="964980" cy="96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Understanding Amazon DynamoDB | AWS in ...">
            <a:extLst>
              <a:ext uri="{FF2B5EF4-FFF2-40B4-BE49-F238E27FC236}">
                <a16:creationId xmlns:a16="http://schemas.microsoft.com/office/drawing/2014/main" id="{3C35887F-4E82-FEC0-180E-264F463BB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374" y="5781106"/>
            <a:ext cx="1403865" cy="64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An Introduction to AWS S3: Naming Rules ...">
            <a:extLst>
              <a:ext uri="{FF2B5EF4-FFF2-40B4-BE49-F238E27FC236}">
                <a16:creationId xmlns:a16="http://schemas.microsoft.com/office/drawing/2014/main" id="{00CD0568-2606-8212-BE04-74B482FF1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026" y="5426623"/>
            <a:ext cx="1242478" cy="11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D670C99-C14C-2F49-619E-E7AC8BE4904B}"/>
              </a:ext>
            </a:extLst>
          </p:cNvPr>
          <p:cNvSpPr/>
          <p:nvPr/>
        </p:nvSpPr>
        <p:spPr>
          <a:xfrm>
            <a:off x="556118" y="3213126"/>
            <a:ext cx="1094275" cy="33328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Sports</a:t>
            </a:r>
          </a:p>
          <a:p>
            <a:pPr algn="ctr"/>
            <a:r>
              <a:rPr lang="en-IE" dirty="0"/>
              <a:t>Exchange</a:t>
            </a:r>
          </a:p>
        </p:txBody>
      </p:sp>
      <p:pic>
        <p:nvPicPr>
          <p:cNvPr id="12" name="Picture 10" descr="AWS Lambda Under the Hood - Engineering ...">
            <a:extLst>
              <a:ext uri="{FF2B5EF4-FFF2-40B4-BE49-F238E27FC236}">
                <a16:creationId xmlns:a16="http://schemas.microsoft.com/office/drawing/2014/main" id="{9B4ED7DD-AD17-5CCB-4C49-B56F8A93A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274" y="3213125"/>
            <a:ext cx="1441557" cy="142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3B150E-83B6-1D8B-C4FA-6664AB2682A7}"/>
              </a:ext>
            </a:extLst>
          </p:cNvPr>
          <p:cNvCxnSpPr/>
          <p:nvPr/>
        </p:nvCxnSpPr>
        <p:spPr>
          <a:xfrm>
            <a:off x="1785828" y="3593222"/>
            <a:ext cx="235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8E635D-B70A-0215-2A45-38C470C4845C}"/>
              </a:ext>
            </a:extLst>
          </p:cNvPr>
          <p:cNvCxnSpPr/>
          <p:nvPr/>
        </p:nvCxnSpPr>
        <p:spPr>
          <a:xfrm>
            <a:off x="1831250" y="5872323"/>
            <a:ext cx="235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5C898C-E3FB-CB64-9FA8-EC8D15CC0C7E}"/>
              </a:ext>
            </a:extLst>
          </p:cNvPr>
          <p:cNvCxnSpPr/>
          <p:nvPr/>
        </p:nvCxnSpPr>
        <p:spPr>
          <a:xfrm>
            <a:off x="3711711" y="3789633"/>
            <a:ext cx="235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9BEE41-F1B8-4B39-926E-B6F627A340F1}"/>
              </a:ext>
            </a:extLst>
          </p:cNvPr>
          <p:cNvCxnSpPr/>
          <p:nvPr/>
        </p:nvCxnSpPr>
        <p:spPr>
          <a:xfrm>
            <a:off x="6804380" y="4020860"/>
            <a:ext cx="235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D55DCE-98C7-8D90-DA1F-D056709B200A}"/>
              </a:ext>
            </a:extLst>
          </p:cNvPr>
          <p:cNvCxnSpPr>
            <a:cxnSpLocks/>
          </p:cNvCxnSpPr>
          <p:nvPr/>
        </p:nvCxnSpPr>
        <p:spPr>
          <a:xfrm>
            <a:off x="5391531" y="5426622"/>
            <a:ext cx="0" cy="236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2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7809" y="104820"/>
            <a:ext cx="4063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99"/>
                </a:solidFill>
              </a:defRPr>
            </a:pPr>
            <a:r>
              <a:rPr lang="en-IE" dirty="0" err="1"/>
              <a:t>FutureGenAI</a:t>
            </a:r>
            <a:r>
              <a:rPr lang="en-IE" dirty="0"/>
              <a:t> Roadmap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9CF6AA-2977-84A7-0DAC-F198C8E76F6A}"/>
              </a:ext>
            </a:extLst>
          </p:cNvPr>
          <p:cNvSpPr txBox="1"/>
          <p:nvPr/>
        </p:nvSpPr>
        <p:spPr>
          <a:xfrm>
            <a:off x="317809" y="659204"/>
            <a:ext cx="795081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b="1" dirty="0"/>
              <a:t>## AI Applications Pipeline</a:t>
            </a:r>
            <a:endParaRPr lang="en-IE" sz="1000" dirty="0"/>
          </a:p>
          <a:p>
            <a:r>
              <a:rPr lang="en-IE" sz="1000" b="1" dirty="0"/>
              <a:t>### Healthcare &amp; Medical</a:t>
            </a:r>
            <a:endParaRPr lang="en-IE" sz="1000" dirty="0"/>
          </a:p>
          <a:p>
            <a:r>
              <a:rPr lang="en-IE" sz="1000" dirty="0"/>
              <a:t>1. </a:t>
            </a:r>
            <a:r>
              <a:rPr lang="en-IE" sz="1000" b="1" dirty="0"/>
              <a:t>**AI Radiology &amp; Imaging Analyst**</a:t>
            </a:r>
            <a:r>
              <a:rPr lang="en-IE" sz="1000" dirty="0"/>
              <a:t> - Automated diagnostic image analysis</a:t>
            </a:r>
          </a:p>
          <a:p>
            <a:r>
              <a:rPr lang="en-IE" sz="1000" dirty="0"/>
              <a:t>2. </a:t>
            </a:r>
            <a:r>
              <a:rPr lang="en-IE" sz="1000" b="1" dirty="0"/>
              <a:t>**AI Clinical Decision Support**</a:t>
            </a:r>
            <a:r>
              <a:rPr lang="en-IE" sz="1000" dirty="0"/>
              <a:t> - Doctor assistant for diagnosis and treatment</a:t>
            </a:r>
          </a:p>
          <a:p>
            <a:r>
              <a:rPr lang="en-IE" sz="1000" dirty="0"/>
              <a:t>3. </a:t>
            </a:r>
            <a:r>
              <a:rPr lang="en-IE" sz="1000" b="1" dirty="0"/>
              <a:t>**AI Mental Health Coach**</a:t>
            </a:r>
            <a:r>
              <a:rPr lang="en-IE" sz="1000" dirty="0"/>
              <a:t> - Therapeutic support and mental wellness monitoring</a:t>
            </a:r>
          </a:p>
          <a:p>
            <a:endParaRPr lang="en-IE" sz="1000" dirty="0"/>
          </a:p>
          <a:p>
            <a:r>
              <a:rPr lang="en-IE" sz="1000" b="1" dirty="0"/>
              <a:t>### Legal &amp; Compliance</a:t>
            </a:r>
            <a:endParaRPr lang="en-IE" sz="1000" dirty="0"/>
          </a:p>
          <a:p>
            <a:r>
              <a:rPr lang="en-IE" sz="1000" dirty="0"/>
              <a:t>4. </a:t>
            </a:r>
            <a:r>
              <a:rPr lang="en-IE" sz="1000" b="1" dirty="0"/>
              <a:t>**AI Contract Reviewer**</a:t>
            </a:r>
            <a:r>
              <a:rPr lang="en-IE" sz="1000" dirty="0"/>
              <a:t> - Automated contract analysis and risk detection</a:t>
            </a:r>
          </a:p>
          <a:p>
            <a:r>
              <a:rPr lang="en-IE" sz="1000" dirty="0"/>
              <a:t>5. </a:t>
            </a:r>
            <a:r>
              <a:rPr lang="en-IE" sz="1000" b="1" dirty="0"/>
              <a:t>**AI Legal Researcher**</a:t>
            </a:r>
            <a:r>
              <a:rPr lang="en-IE" sz="1000" dirty="0"/>
              <a:t> - Case law and precedent search automation</a:t>
            </a:r>
          </a:p>
          <a:p>
            <a:r>
              <a:rPr lang="en-IE" sz="1000" dirty="0"/>
              <a:t>6. </a:t>
            </a:r>
            <a:r>
              <a:rPr lang="en-IE" sz="1000" b="1" dirty="0"/>
              <a:t>**AI Policy Impact Analyst**</a:t>
            </a:r>
            <a:r>
              <a:rPr lang="en-IE" sz="1000" dirty="0"/>
              <a:t> - Regulatory impact assessment</a:t>
            </a:r>
          </a:p>
          <a:p>
            <a:r>
              <a:rPr lang="en-IE" sz="1000" dirty="0"/>
              <a:t>7. </a:t>
            </a:r>
            <a:r>
              <a:rPr lang="en-IE" sz="1000" b="1" dirty="0"/>
              <a:t>**AI Policy Enforcement Agent**</a:t>
            </a:r>
            <a:r>
              <a:rPr lang="en-IE" sz="1000" dirty="0"/>
              <a:t> - Compliance monitoring and enforcement</a:t>
            </a:r>
          </a:p>
          <a:p>
            <a:endParaRPr lang="en-IE" sz="1000" dirty="0"/>
          </a:p>
          <a:p>
            <a:r>
              <a:rPr lang="en-IE" sz="1000" b="1" dirty="0"/>
              <a:t>### Financial Services</a:t>
            </a:r>
            <a:endParaRPr lang="en-IE" sz="1000" dirty="0"/>
          </a:p>
          <a:p>
            <a:r>
              <a:rPr lang="en-IE" sz="1000" dirty="0"/>
              <a:t>8. </a:t>
            </a:r>
            <a:r>
              <a:rPr lang="en-IE" sz="1000" b="1" dirty="0"/>
              <a:t>**AI Portfolio Manager**</a:t>
            </a:r>
            <a:r>
              <a:rPr lang="en-IE" sz="1000" dirty="0"/>
              <a:t> - Automated investment management</a:t>
            </a:r>
          </a:p>
          <a:p>
            <a:r>
              <a:rPr lang="en-IE" sz="1000" dirty="0"/>
              <a:t>9. </a:t>
            </a:r>
            <a:r>
              <a:rPr lang="en-IE" sz="1000" b="1" dirty="0"/>
              <a:t>**AI CFO Assistant**</a:t>
            </a:r>
            <a:r>
              <a:rPr lang="en-IE" sz="1000" dirty="0"/>
              <a:t> - Financial planning and analysis automation</a:t>
            </a:r>
          </a:p>
          <a:p>
            <a:r>
              <a:rPr lang="en-IE" sz="1000" dirty="0"/>
              <a:t>10. </a:t>
            </a:r>
            <a:r>
              <a:rPr lang="en-IE" sz="1000" b="1" dirty="0"/>
              <a:t>**AI Fraud Detection Officer**</a:t>
            </a:r>
            <a:r>
              <a:rPr lang="en-IE" sz="1000" dirty="0"/>
              <a:t> - Transaction monitoring and fraud prevention</a:t>
            </a:r>
          </a:p>
          <a:p>
            <a:r>
              <a:rPr lang="en-IE" sz="1000" dirty="0"/>
              <a:t>11. </a:t>
            </a:r>
            <a:r>
              <a:rPr lang="en-IE" sz="1000" b="1" dirty="0"/>
              <a:t>**AI Tax Audit Assistant**</a:t>
            </a:r>
            <a:r>
              <a:rPr lang="en-IE" sz="1000" dirty="0"/>
              <a:t> - Tax compliance and audit automation</a:t>
            </a:r>
          </a:p>
          <a:p>
            <a:r>
              <a:rPr lang="en-IE" sz="1000" dirty="0"/>
              <a:t>12. </a:t>
            </a:r>
            <a:r>
              <a:rPr lang="en-IE" sz="1000" b="1" dirty="0"/>
              <a:t>**AI Risk &amp; Compliance Agent**</a:t>
            </a:r>
            <a:r>
              <a:rPr lang="en-IE" sz="1000" dirty="0"/>
              <a:t> - Risk assessment and regulatory compliance</a:t>
            </a:r>
          </a:p>
          <a:p>
            <a:r>
              <a:rPr lang="en-IE" sz="1000" dirty="0"/>
              <a:t>13. </a:t>
            </a:r>
            <a:r>
              <a:rPr lang="en-IE" sz="1000" b="1" dirty="0"/>
              <a:t>**AI Demand &amp; Pricing Forecaster**</a:t>
            </a:r>
            <a:r>
              <a:rPr lang="en-IE" sz="1000" dirty="0"/>
              <a:t> - Dynamic pricing and demand prediction</a:t>
            </a:r>
          </a:p>
          <a:p>
            <a:br>
              <a:rPr lang="en-IE" sz="1000" dirty="0"/>
            </a:br>
            <a:endParaRPr lang="en-IE" sz="1000" dirty="0"/>
          </a:p>
          <a:p>
            <a:r>
              <a:rPr lang="en-IE" sz="1000" b="1" dirty="0"/>
              <a:t>### Operations &amp; Logistics</a:t>
            </a:r>
            <a:endParaRPr lang="en-IE" sz="1000" dirty="0"/>
          </a:p>
          <a:p>
            <a:r>
              <a:rPr lang="en-IE" sz="1000" dirty="0"/>
              <a:t>14. </a:t>
            </a:r>
            <a:r>
              <a:rPr lang="en-IE" sz="1000" b="1" dirty="0"/>
              <a:t>**AI Logistics &amp; Route Optimization Manager**</a:t>
            </a:r>
            <a:r>
              <a:rPr lang="en-IE" sz="1000" dirty="0"/>
              <a:t> - Supply chain efficiency</a:t>
            </a:r>
          </a:p>
          <a:p>
            <a:r>
              <a:rPr lang="en-IE" sz="1000" dirty="0"/>
              <a:t>15. </a:t>
            </a:r>
            <a:r>
              <a:rPr lang="en-IE" sz="1000" b="1" dirty="0"/>
              <a:t>**AI Supply Chain Planner**</a:t>
            </a:r>
            <a:r>
              <a:rPr lang="en-IE" sz="1000" dirty="0"/>
              <a:t> - Inventory and distribution optimization</a:t>
            </a:r>
          </a:p>
          <a:p>
            <a:r>
              <a:rPr lang="en-IE" sz="1000" dirty="0"/>
              <a:t>16. </a:t>
            </a:r>
            <a:r>
              <a:rPr lang="en-IE" sz="1000" b="1" dirty="0"/>
              <a:t>**AI Procurement Agent**</a:t>
            </a:r>
            <a:r>
              <a:rPr lang="en-IE" sz="1000" dirty="0"/>
              <a:t> - Automated purchasing and vendor management</a:t>
            </a:r>
          </a:p>
          <a:p>
            <a:br>
              <a:rPr lang="en-IE" sz="1000" dirty="0"/>
            </a:br>
            <a:endParaRPr lang="en-IE" sz="1000" dirty="0"/>
          </a:p>
          <a:p>
            <a:r>
              <a:rPr lang="en-IE" sz="1000" b="1" dirty="0"/>
              <a:t>### Human Resources</a:t>
            </a:r>
            <a:endParaRPr lang="en-IE" sz="1000" dirty="0"/>
          </a:p>
          <a:p>
            <a:r>
              <a:rPr lang="en-IE" sz="1000" dirty="0"/>
              <a:t>17. </a:t>
            </a:r>
            <a:r>
              <a:rPr lang="en-IE" sz="1000" b="1" dirty="0"/>
              <a:t>**AI HR Talent Scout**</a:t>
            </a:r>
            <a:r>
              <a:rPr lang="en-IE" sz="1000" dirty="0"/>
              <a:t> - Recruitment and candidate screening</a:t>
            </a:r>
          </a:p>
          <a:p>
            <a:r>
              <a:rPr lang="en-IE" sz="1000" dirty="0"/>
              <a:t>18. </a:t>
            </a:r>
            <a:r>
              <a:rPr lang="en-IE" sz="1000" b="1" dirty="0"/>
              <a:t>**AI Performance Reviewer**</a:t>
            </a:r>
            <a:r>
              <a:rPr lang="en-IE" sz="1000" dirty="0"/>
              <a:t> - Employee evaluation and feedback automation</a:t>
            </a:r>
          </a:p>
          <a:p>
            <a:br>
              <a:rPr lang="en-IE" sz="1000" dirty="0"/>
            </a:br>
            <a:endParaRPr lang="en-IE" sz="1000" dirty="0"/>
          </a:p>
          <a:p>
            <a:r>
              <a:rPr lang="en-IE" sz="1000" b="1" dirty="0"/>
              <a:t>### Sales &amp; Marketing</a:t>
            </a:r>
            <a:endParaRPr lang="en-IE" sz="1000" dirty="0"/>
          </a:p>
          <a:p>
            <a:r>
              <a:rPr lang="en-IE" sz="1000" dirty="0"/>
              <a:t>19. </a:t>
            </a:r>
            <a:r>
              <a:rPr lang="en-IE" sz="1000" b="1" dirty="0"/>
              <a:t>**AI Sales Agents**</a:t>
            </a:r>
            <a:r>
              <a:rPr lang="en-IE" sz="1000" dirty="0"/>
              <a:t> - Automated sales outreach and conversion</a:t>
            </a:r>
          </a:p>
          <a:p>
            <a:r>
              <a:rPr lang="en-IE" sz="1000" dirty="0"/>
              <a:t>20. </a:t>
            </a:r>
            <a:r>
              <a:rPr lang="en-IE" sz="1000" b="1" dirty="0"/>
              <a:t>**AI Growth &amp; Pricing Strategist**</a:t>
            </a:r>
            <a:r>
              <a:rPr lang="en-IE" sz="1000" dirty="0"/>
              <a:t> - Market positioning and revenue optimization</a:t>
            </a:r>
          </a:p>
          <a:p>
            <a:r>
              <a:rPr lang="en-IE" sz="1000" dirty="0"/>
              <a:t>21. </a:t>
            </a:r>
            <a:r>
              <a:rPr lang="en-IE" sz="1000" b="1" dirty="0"/>
              <a:t>**AI Brand &amp; Content Engine**</a:t>
            </a:r>
            <a:r>
              <a:rPr lang="en-IE" sz="1000" dirty="0"/>
              <a:t> - Marketing content generation and brand management</a:t>
            </a:r>
          </a:p>
          <a:p>
            <a:r>
              <a:rPr lang="en-IE" sz="1000" dirty="0"/>
              <a:t>22. </a:t>
            </a:r>
            <a:r>
              <a:rPr lang="en-IE" sz="1000" b="1" dirty="0"/>
              <a:t>**AI Customer Support Agent**</a:t>
            </a:r>
            <a:r>
              <a:rPr lang="en-IE" sz="1000" dirty="0"/>
              <a:t> - Tier 1-2 customer service automation</a:t>
            </a:r>
          </a:p>
          <a:p>
            <a:endParaRPr lang="en-IE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D5F26-4382-1AAE-33BC-6ECEA1C9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11D2EA-B9B3-9D9C-DC07-C1B16F948F88}"/>
              </a:ext>
            </a:extLst>
          </p:cNvPr>
          <p:cNvSpPr txBox="1"/>
          <p:nvPr/>
        </p:nvSpPr>
        <p:spPr>
          <a:xfrm>
            <a:off x="317809" y="104820"/>
            <a:ext cx="4063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99"/>
                </a:solidFill>
              </a:defRPr>
            </a:pPr>
            <a:r>
              <a:rPr lang="en-IE" dirty="0" err="1"/>
              <a:t>FutureGenAI</a:t>
            </a:r>
            <a:r>
              <a:rPr lang="en-IE" dirty="0"/>
              <a:t> Roadmap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BE4BA0-0605-5EB2-8A7B-E549FB8EFE65}"/>
              </a:ext>
            </a:extLst>
          </p:cNvPr>
          <p:cNvSpPr txBox="1"/>
          <p:nvPr/>
        </p:nvSpPr>
        <p:spPr>
          <a:xfrm>
            <a:off x="405691" y="557559"/>
            <a:ext cx="7950819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b="1" dirty="0"/>
              <a:t>### Product &amp; Engineering</a:t>
            </a:r>
            <a:endParaRPr lang="en-IE" sz="1000" dirty="0"/>
          </a:p>
          <a:p>
            <a:r>
              <a:rPr lang="en-IE" sz="1000" dirty="0"/>
              <a:t>23. </a:t>
            </a:r>
            <a:r>
              <a:rPr lang="en-IE" sz="1000" b="1" dirty="0"/>
              <a:t>**AI Product Manager**</a:t>
            </a:r>
            <a:r>
              <a:rPr lang="en-IE" sz="1000" dirty="0"/>
              <a:t> - Product roadmap and feature prioritization</a:t>
            </a:r>
          </a:p>
          <a:p>
            <a:r>
              <a:rPr lang="en-IE" sz="1000" dirty="0"/>
              <a:t>24. </a:t>
            </a:r>
            <a:r>
              <a:rPr lang="en-IE" sz="1000" b="1" dirty="0"/>
              <a:t>**AI QA &amp; Testing Agent**</a:t>
            </a:r>
            <a:r>
              <a:rPr lang="en-IE" sz="1000" dirty="0"/>
              <a:t> - Automated quality assurance and testing</a:t>
            </a:r>
          </a:p>
          <a:p>
            <a:endParaRPr lang="en-IE" sz="1000" b="1" dirty="0"/>
          </a:p>
          <a:p>
            <a:r>
              <a:rPr lang="en-IE" sz="1000" b="1" dirty="0"/>
              <a:t>## Education &amp; Assessment</a:t>
            </a:r>
            <a:endParaRPr lang="en-IE" sz="1000" dirty="0"/>
          </a:p>
          <a:p>
            <a:r>
              <a:rPr lang="en-IE" sz="1000" dirty="0"/>
              <a:t>27. </a:t>
            </a:r>
            <a:r>
              <a:rPr lang="en-IE" sz="1000" b="1" dirty="0"/>
              <a:t>**AI State Exam Corrector**</a:t>
            </a:r>
            <a:r>
              <a:rPr lang="en-IE" sz="1000" dirty="0"/>
              <a:t> - Automated exam grading and evaluation</a:t>
            </a:r>
          </a:p>
          <a:p>
            <a:r>
              <a:rPr lang="en-IE" sz="1000" dirty="0"/>
              <a:t>28. </a:t>
            </a:r>
            <a:r>
              <a:rPr lang="en-IE" sz="1000" b="1" dirty="0"/>
              <a:t>**AI Content &amp; Report Generator**</a:t>
            </a:r>
            <a:r>
              <a:rPr lang="en-IE" sz="1000" dirty="0"/>
              <a:t> - Automated documentation and reporting</a:t>
            </a:r>
          </a:p>
          <a:p>
            <a:endParaRPr lang="en-IE" sz="1000" dirty="0"/>
          </a:p>
          <a:p>
            <a:r>
              <a:rPr lang="en-IE" sz="1000" b="1" dirty="0"/>
              <a:t>### Strategic &amp; Executive</a:t>
            </a:r>
            <a:endParaRPr lang="en-IE" sz="1000" dirty="0"/>
          </a:p>
          <a:p>
            <a:r>
              <a:rPr lang="en-IE" sz="1000" dirty="0"/>
              <a:t>29. </a:t>
            </a:r>
            <a:r>
              <a:rPr lang="en-IE" sz="1000" b="1" dirty="0"/>
              <a:t>**AI Strategy Agent**</a:t>
            </a:r>
            <a:r>
              <a:rPr lang="en-IE" sz="1000" dirty="0"/>
              <a:t> - Strategic planning and scenario analysis</a:t>
            </a:r>
          </a:p>
          <a:p>
            <a:r>
              <a:rPr lang="en-IE" sz="1000" dirty="0"/>
              <a:t>30. </a:t>
            </a:r>
            <a:r>
              <a:rPr lang="en-IE" sz="1000" b="1" dirty="0"/>
              <a:t>**AI Market Intelligence Agent**</a:t>
            </a:r>
            <a:r>
              <a:rPr lang="en-IE" sz="1000" dirty="0"/>
              <a:t> - Competitive intelligence and market research</a:t>
            </a:r>
          </a:p>
          <a:p>
            <a:r>
              <a:rPr lang="en-IE" sz="1000" dirty="0"/>
              <a:t>31. </a:t>
            </a:r>
            <a:r>
              <a:rPr lang="en-IE" sz="1000" b="1" dirty="0"/>
              <a:t>**AI Research Scientist**</a:t>
            </a:r>
            <a:r>
              <a:rPr lang="en-IE" sz="1000" dirty="0"/>
              <a:t> - Automated literature review and hypothesis generation</a:t>
            </a:r>
          </a:p>
          <a:p>
            <a:br>
              <a:rPr lang="en-IE" sz="1000" dirty="0"/>
            </a:br>
            <a:r>
              <a:rPr lang="en-IE" sz="1000" b="1" dirty="0"/>
              <a:t>**Phase 1 (High-Automation, Immediate ROI)**</a:t>
            </a:r>
            <a:endParaRPr lang="en-IE" sz="1000" dirty="0"/>
          </a:p>
          <a:p>
            <a:r>
              <a:rPr lang="en-IE" sz="1000" dirty="0"/>
              <a:t>- AI Customer Support Agent</a:t>
            </a:r>
          </a:p>
          <a:p>
            <a:r>
              <a:rPr lang="en-IE" sz="1000" dirty="0"/>
              <a:t>- AI Contract Reviewer</a:t>
            </a:r>
          </a:p>
          <a:p>
            <a:r>
              <a:rPr lang="en-IE" sz="1000" dirty="0"/>
              <a:t>- AI Fraud Detection Officer</a:t>
            </a:r>
          </a:p>
          <a:p>
            <a:r>
              <a:rPr lang="en-IE" sz="1000" dirty="0"/>
              <a:t>- AI Content &amp; Report Generator</a:t>
            </a:r>
          </a:p>
          <a:p>
            <a:r>
              <a:rPr lang="en-IE" sz="1000" dirty="0"/>
              <a:t>- AI Tax Audit Assistant</a:t>
            </a:r>
          </a:p>
          <a:p>
            <a:endParaRPr lang="en-IE" sz="1000" dirty="0"/>
          </a:p>
          <a:p>
            <a:r>
              <a:rPr lang="en-IE" sz="1000" b="1" dirty="0"/>
              <a:t>**Phase 2 (Human-AI Hybrid, High Value)**</a:t>
            </a:r>
            <a:endParaRPr lang="en-IE" sz="1000" dirty="0"/>
          </a:p>
          <a:p>
            <a:r>
              <a:rPr lang="en-IE" sz="1000" dirty="0"/>
              <a:t>- AI Clinical Decision Support</a:t>
            </a:r>
          </a:p>
          <a:p>
            <a:r>
              <a:rPr lang="en-IE" sz="1000" dirty="0"/>
              <a:t>- AI Portfolio Manager</a:t>
            </a:r>
          </a:p>
          <a:p>
            <a:r>
              <a:rPr lang="en-IE" sz="1000" dirty="0"/>
              <a:t>- AI Legal Researcher</a:t>
            </a:r>
          </a:p>
          <a:p>
            <a:r>
              <a:rPr lang="en-IE" sz="1000" dirty="0"/>
              <a:t>- AI HR Talent Scout</a:t>
            </a:r>
          </a:p>
          <a:p>
            <a:r>
              <a:rPr lang="en-IE" sz="1000" dirty="0"/>
              <a:t>- AI Radiology &amp; Imaging Analyst</a:t>
            </a:r>
          </a:p>
          <a:p>
            <a:endParaRPr lang="en-IE" sz="1000" dirty="0"/>
          </a:p>
          <a:p>
            <a:r>
              <a:rPr lang="en-IE" sz="1000" b="1" dirty="0"/>
              <a:t>**Phase 3 (Strategic &amp; Governance)**</a:t>
            </a:r>
            <a:endParaRPr lang="en-IE" sz="1000" dirty="0"/>
          </a:p>
          <a:p>
            <a:r>
              <a:rPr lang="en-IE" sz="1000" dirty="0"/>
              <a:t>- AI Model Auditor</a:t>
            </a:r>
          </a:p>
          <a:p>
            <a:r>
              <a:rPr lang="en-IE" sz="1000" dirty="0"/>
              <a:t>- AI Policy Impact Analyst</a:t>
            </a:r>
          </a:p>
          <a:p>
            <a:r>
              <a:rPr lang="en-IE" sz="1000" dirty="0"/>
              <a:t>- AI Strategy Agent</a:t>
            </a:r>
          </a:p>
          <a:p>
            <a:r>
              <a:rPr lang="en-IE" sz="1000" dirty="0"/>
              <a:t>- AI Risk &amp; Compliance Agent</a:t>
            </a:r>
          </a:p>
          <a:p>
            <a:r>
              <a:rPr lang="en-IE" sz="1000" dirty="0"/>
              <a:t>- AI Code &amp; Systems Optimizer</a:t>
            </a:r>
          </a:p>
          <a:p>
            <a:br>
              <a:rPr lang="en-IE" sz="1000" dirty="0"/>
            </a:br>
            <a:r>
              <a:rPr lang="en-IE" sz="1000" b="1" dirty="0"/>
              <a:t>**Phase 4 (Advanced Capabilities)**</a:t>
            </a:r>
            <a:endParaRPr lang="en-IE" sz="1000" dirty="0"/>
          </a:p>
          <a:p>
            <a:r>
              <a:rPr lang="en-IE" sz="1000" dirty="0"/>
              <a:t>- AI Mental Health Coach</a:t>
            </a:r>
          </a:p>
          <a:p>
            <a:r>
              <a:rPr lang="en-IE" sz="1000" dirty="0"/>
              <a:t>- AI Research Scientist</a:t>
            </a:r>
          </a:p>
          <a:p>
            <a:r>
              <a:rPr lang="en-IE" sz="1000" dirty="0"/>
              <a:t>- AI Product Manager</a:t>
            </a:r>
          </a:p>
          <a:p>
            <a:r>
              <a:rPr lang="en-IE" sz="1000" dirty="0"/>
              <a:t>- AI CFO Assistant</a:t>
            </a:r>
          </a:p>
          <a:p>
            <a:r>
              <a:rPr lang="en-IE" sz="1000" dirty="0"/>
              <a:t>- AI Market Intelligence Agent</a:t>
            </a:r>
            <a:br>
              <a:rPr lang="en-IE" sz="1000" dirty="0"/>
            </a:br>
            <a:endParaRPr lang="en-IE" sz="1000" dirty="0"/>
          </a:p>
        </p:txBody>
      </p:sp>
    </p:spTree>
    <p:extLst>
      <p:ext uri="{BB962C8B-B14F-4D97-AF65-F5344CB8AC3E}">
        <p14:creationId xmlns:p14="http://schemas.microsoft.com/office/powerpoint/2010/main" val="4016603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99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solidFill>
            <a:srgbClr val="76CA8C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S3 Upload</a:t>
            </a:r>
          </a:p>
          <a:p>
            <a:r>
              <a:t>Original PDFs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737360"/>
            <a:ext cx="2743200" cy="548640"/>
          </a:xfrm>
          <a:prstGeom prst="rect">
            <a:avLst/>
          </a:prstGeom>
          <a:solidFill>
            <a:srgbClr val="FF9F40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Upload Handler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468880"/>
            <a:ext cx="2743200" cy="457200"/>
          </a:xfrm>
          <a:prstGeom prst="rect">
            <a:avLst/>
          </a:prstGeom>
          <a:solidFill>
            <a:srgbClr val="FF6384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SQS Queue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108960"/>
            <a:ext cx="2743200" cy="548640"/>
          </a:xfrm>
          <a:prstGeom prst="rect">
            <a:avLst/>
          </a:prstGeom>
          <a:solidFill>
            <a:srgbClr val="FF9F40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PDF Converter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840480"/>
            <a:ext cx="1645920" cy="457200"/>
          </a:xfrm>
          <a:prstGeom prst="rect">
            <a:avLst/>
          </a:prstGeom>
          <a:solidFill>
            <a:srgbClr val="76CA8C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S3 PNG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840480"/>
            <a:ext cx="1645920" cy="457200"/>
          </a:xfrm>
          <a:prstGeom prst="rect">
            <a:avLst/>
          </a:prstGeom>
          <a:solidFill>
            <a:srgbClr val="76CA8C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S3 WebP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840480"/>
            <a:ext cx="1645920" cy="457200"/>
          </a:xfrm>
          <a:prstGeom prst="rect">
            <a:avLst/>
          </a:prstGeom>
          <a:solidFill>
            <a:srgbClr val="76CA8C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S3 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480560"/>
            <a:ext cx="2743200" cy="457200"/>
          </a:xfrm>
          <a:prstGeom prst="rect">
            <a:avLst/>
          </a:prstGeom>
          <a:solidFill>
            <a:srgbClr val="FF6384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AI Queue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5120640"/>
            <a:ext cx="2743200" cy="548640"/>
          </a:xfrm>
          <a:prstGeom prst="rect">
            <a:avLst/>
          </a:prstGeom>
          <a:solidFill>
            <a:srgbClr val="9966FF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AI Processor</a:t>
            </a:r>
          </a:p>
          <a:p>
            <a:r>
              <a:t>Claude 3.5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103120"/>
            <a:ext cx="1554480" cy="3200400"/>
          </a:xfrm>
          <a:prstGeom prst="rect">
            <a:avLst/>
          </a:prstGeom>
          <a:solidFill>
            <a:srgbClr val="36A2EB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DynamoDB</a:t>
            </a:r>
          </a:p>
          <a:p>
            <a:endParaRPr/>
          </a:p>
          <a:p>
            <a:r>
              <a:t>Patients</a:t>
            </a:r>
          </a:p>
          <a:p>
            <a:r>
              <a:t>Docs</a:t>
            </a:r>
          </a:p>
          <a:p>
            <a:r>
              <a:t>Pages</a:t>
            </a:r>
          </a:p>
          <a:p>
            <a:r>
              <a:t>Meds</a:t>
            </a:r>
          </a:p>
          <a:p>
            <a:r>
              <a:t>Tests</a:t>
            </a:r>
          </a:p>
          <a:p>
            <a:r>
              <a:t>Diag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99"/>
                </a:solidFill>
              </a:defRPr>
            </a:pPr>
            <a:r>
              <a:t>Cost Analysis - 237 Page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931920" cy="640080"/>
          </a:xfrm>
          <a:prstGeom prst="rect">
            <a:avLst/>
          </a:prstGeom>
          <a:solidFill>
            <a:srgbClr val="FFC8C8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BEFORE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9319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Bedrock Input: .00</a:t>
            </a:r>
          </a:p>
          <a:p>
            <a:r>
              <a:t>Bedrock Output: .00</a:t>
            </a:r>
          </a:p>
          <a:p>
            <a:r>
              <a:t>Lambda Exec: .18</a:t>
            </a:r>
          </a:p>
          <a:p>
            <a:r>
              <a:t>Infrastructure: .003</a:t>
            </a:r>
          </a:p>
          <a:p>
            <a:endParaRPr/>
          </a:p>
          <a:p>
            <a:r>
              <a:t>Total: .18</a:t>
            </a:r>
          </a:p>
          <a:p>
            <a:r>
              <a:t>Per Page: .191</a:t>
            </a:r>
          </a:p>
          <a:p>
            <a:r>
              <a:t>Time: 3.5 hours</a:t>
            </a:r>
          </a:p>
          <a:p>
            <a:r>
              <a:t>Throughput: 70 pages/hr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280160"/>
            <a:ext cx="3931920" cy="640080"/>
          </a:xfrm>
          <a:prstGeom prst="rect">
            <a:avLst/>
          </a:prstGeom>
          <a:solidFill>
            <a:srgbClr val="C8FFC8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AFTER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9319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Bedrock Input: .51</a:t>
            </a:r>
          </a:p>
          <a:p>
            <a:r>
              <a:t>Bedrock Output: .76</a:t>
            </a:r>
          </a:p>
          <a:p>
            <a:r>
              <a:t>Lambda Exec: .047</a:t>
            </a:r>
          </a:p>
          <a:p>
            <a:r>
              <a:t>Infrastructure: .003</a:t>
            </a:r>
          </a:p>
          <a:p>
            <a:endParaRPr/>
          </a:p>
          <a:p>
            <a:r>
              <a:t>Total: .31</a:t>
            </a:r>
          </a:p>
          <a:p>
            <a:r>
              <a:t>Per Page: .022</a:t>
            </a:r>
          </a:p>
          <a:p>
            <a:r>
              <a:t>Time: 30 minutes</a:t>
            </a:r>
          </a:p>
          <a:p>
            <a:r>
              <a:t>Throughput: 200-300 pages/hr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303520"/>
            <a:ext cx="5943600" cy="548640"/>
          </a:xfrm>
          <a:prstGeom prst="rect">
            <a:avLst/>
          </a:prstGeom>
          <a:solidFill>
            <a:srgbClr val="FFFF96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SAVINGS: .87 per document (88%) • 7x faster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99"/>
                </a:solidFill>
              </a:defRPr>
            </a:pPr>
            <a:r>
              <a:t>Medical Data Extraction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914400"/>
          </a:xfrm>
          <a:prstGeom prst="rect">
            <a:avLst/>
          </a:prstGeom>
          <a:solidFill>
            <a:srgbClr val="64B5F6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237 Pages</a:t>
            </a:r>
          </a:p>
          <a:p>
            <a:r>
              <a:t>Processed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1188720"/>
            <a:ext cx="1828800" cy="914400"/>
          </a:xfrm>
          <a:prstGeom prst="rect">
            <a:avLst/>
          </a:prstGeom>
          <a:solidFill>
            <a:srgbClr val="81C784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1,294 Data</a:t>
            </a:r>
          </a:p>
          <a:p>
            <a:r>
              <a:t>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188720"/>
            <a:ext cx="1828800" cy="914400"/>
          </a:xfrm>
          <a:prstGeom prst="rect">
            <a:avLst/>
          </a:prstGeom>
          <a:solidFill>
            <a:srgbClr val="FFD54F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98.73%</a:t>
            </a:r>
          </a:p>
          <a:p>
            <a:r>
              <a:t>Success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188720"/>
            <a:ext cx="2194560" cy="914400"/>
          </a:xfrm>
          <a:prstGeom prst="rect">
            <a:avLst/>
          </a:prstGeom>
          <a:solidFill>
            <a:srgbClr val="CE93D8"/>
          </a:solidFill>
          <a:ln w="254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/>
            </a:pPr>
            <a:r>
              <a:t>30 Minutes</a:t>
            </a:r>
          </a:p>
          <a:p>
            <a:r>
              <a:t>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8229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Extracted from Real 237-Page Medical Document:</a:t>
            </a:r>
          </a:p>
          <a:p>
            <a:endParaRPr/>
          </a:p>
          <a:p>
            <a:r>
              <a:t>Medications: 220 entries</a:t>
            </a:r>
          </a:p>
          <a:p>
            <a:r>
              <a:t>• JARDIANCE 25mg, Triamcinolone, Econazole, Valsartan</a:t>
            </a:r>
          </a:p>
          <a:p>
            <a:endParaRPr/>
          </a:p>
          <a:p>
            <a:r>
              <a:t>Diagnoses: 367 entries</a:t>
            </a:r>
          </a:p>
          <a:p>
            <a:r>
              <a:t>• Prostate cancer (Gleason 4+4=8), Hypertension, Diabetes</a:t>
            </a:r>
          </a:p>
          <a:p>
            <a:endParaRPr/>
          </a:p>
          <a:p>
            <a:r>
              <a:t>Test Results: 707 entries</a:t>
            </a:r>
          </a:p>
          <a:p>
            <a:r>
              <a:t>• Temperature, HDL Cholesterol, Prostate biopsy</a:t>
            </a:r>
          </a:p>
          <a:p>
            <a:endParaRPr/>
          </a:p>
          <a:p>
            <a:r>
              <a:t>Page Categories: 470 classifications</a:t>
            </a:r>
          </a:p>
          <a:p>
            <a:r>
              <a:t>• Lab results, Visit notes, Imaging, Prescriptions</a:t>
            </a:r>
          </a:p>
          <a:p>
            <a:endParaRPr/>
          </a:p>
          <a:p>
            <a:r>
              <a:t>Processing: Upload 13:08:20, Complete ~30 min</a:t>
            </a:r>
          </a:p>
          <a:p>
            <a:r>
              <a:t>Average: 7.6 seconds per page</a:t>
            </a:r>
          </a:p>
          <a:p>
            <a:r>
              <a:t>Cost: .31 total (.022/page)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24830" y="1489803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99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409" y="247558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Production-Ready Medical Document Processing</a:t>
            </a:r>
          </a:p>
          <a:p>
            <a:endParaRPr/>
          </a:p>
          <a:p>
            <a:r>
              <a:t>Status: Fully Operational</a:t>
            </a:r>
          </a:p>
          <a:p>
            <a:r>
              <a:t>• 98.73% success rate on 237-page document</a:t>
            </a:r>
          </a:p>
          <a:p>
            <a:r>
              <a:t>• .022/page (96-98% cheaper than manual)</a:t>
            </a:r>
          </a:p>
          <a:p>
            <a:r>
              <a:t>• 7.6 sec/page (99% faster)</a:t>
            </a:r>
          </a:p>
          <a:p>
            <a:r>
              <a:t>• 1,294 data points with high accuracy</a:t>
            </a:r>
          </a:p>
          <a:p>
            <a:endParaRPr/>
          </a:p>
          <a:p>
            <a:r>
              <a:t>Achievements:</a:t>
            </a:r>
          </a:p>
          <a:p>
            <a:r>
              <a:t>✓ 88% cost reduction (.18 → .31)</a:t>
            </a:r>
          </a:p>
          <a:p>
            <a:r>
              <a:t>✓ 7x speed improvement (3.5hr → 30min)</a:t>
            </a:r>
          </a:p>
          <a:p>
            <a:r>
              <a:t>✓ 95% fewer throttling errors</a:t>
            </a:r>
          </a:p>
          <a:p>
            <a:r>
              <a:t>✓ Scalable with Bedrock quota increase</a:t>
            </a:r>
          </a:p>
          <a:p>
            <a:endParaRPr/>
          </a:p>
          <a:p>
            <a:r>
              <a:t>Recommendations:</a:t>
            </a:r>
          </a:p>
          <a:p>
            <a:r>
              <a:t>1. Request Bedrock quota to 100 req/sec</a:t>
            </a:r>
          </a:p>
          <a:p>
            <a:r>
              <a:t>2. Sign AWS BAA for HIPAA compliance</a:t>
            </a:r>
          </a:p>
          <a:p>
            <a:r>
              <a:t>3. Enable monitoring &amp; alarms</a:t>
            </a:r>
          </a:p>
          <a:p>
            <a:r>
              <a:t>4. Implement prompt caching (50% savings)</a:t>
            </a:r>
          </a:p>
          <a:p>
            <a:r>
              <a:t>5. Add Cognito authentication</a:t>
            </a:r>
          </a:p>
          <a:p>
            <a:endParaRPr/>
          </a:p>
          <a:p>
            <a:r>
              <a:t>Investment: ,320/year for 1,000 docs</a:t>
            </a:r>
          </a:p>
          <a:p>
            <a:r>
              <a:t>ROI: 1,800% - 5,500%</a:t>
            </a:r>
          </a:p>
          <a:p>
            <a:endParaRPr/>
          </a:p>
          <a:p>
            <a:r>
              <a:t>Ready for Production!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1077</Words>
  <Application>Microsoft Office PowerPoint</Application>
  <PresentationFormat>On-screen Show (4:3)</PresentationFormat>
  <Paragraphs>190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HealthAI Medical Document 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charles mccarthy</cp:lastModifiedBy>
  <cp:revision>1</cp:revision>
  <dcterms:created xsi:type="dcterms:W3CDTF">2013-01-27T09:14:16Z</dcterms:created>
  <dcterms:modified xsi:type="dcterms:W3CDTF">2026-01-12T21:28:55Z</dcterms:modified>
  <cp:category/>
</cp:coreProperties>
</file>