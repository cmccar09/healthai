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6C217-4986-42EB-8CFB-732076995401}" v="57" dt="2025-12-15T11:20:13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14" y="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mccarthy" userId="c6971f366e65dfa3" providerId="LiveId" clId="{BAF8EF68-B7AB-4503-9648-829263EF8DA0}"/>
    <pc:docChg chg="custSel modSld">
      <pc:chgData name="charles mccarthy" userId="c6971f366e65dfa3" providerId="LiveId" clId="{BAF8EF68-B7AB-4503-9648-829263EF8DA0}" dt="2025-12-15T11:21:55.213" v="103" actId="1076"/>
      <pc:docMkLst>
        <pc:docMk/>
      </pc:docMkLst>
      <pc:sldChg chg="addSp delSp modSp mod">
        <pc:chgData name="charles mccarthy" userId="c6971f366e65dfa3" providerId="LiveId" clId="{BAF8EF68-B7AB-4503-9648-829263EF8DA0}" dt="2025-12-15T11:21:55.213" v="103" actId="1076"/>
        <pc:sldMkLst>
          <pc:docMk/>
          <pc:sldMk cId="0" sldId="258"/>
        </pc:sldMkLst>
        <pc:spChg chg="mod">
          <ac:chgData name="charles mccarthy" userId="c6971f366e65dfa3" providerId="LiveId" clId="{BAF8EF68-B7AB-4503-9648-829263EF8DA0}" dt="2025-12-15T11:21:55.213" v="103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charles mccarthy" userId="c6971f366e65dfa3" providerId="LiveId" clId="{BAF8EF68-B7AB-4503-9648-829263EF8DA0}" dt="2025-12-15T11:11:21.701" v="2" actId="478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charles mccarthy" userId="c6971f366e65dfa3" providerId="LiveId" clId="{BAF8EF68-B7AB-4503-9648-829263EF8DA0}" dt="2025-12-15T11:14:26.928" v="65" actId="14100"/>
          <ac:spMkLst>
            <pc:docMk/>
            <pc:sldMk cId="0" sldId="258"/>
            <ac:spMk id="4" creationId="{30F70299-A90D-CE3D-B4FF-8BB6446CC4B5}"/>
          </ac:spMkLst>
        </pc:spChg>
        <pc:picChg chg="add mod">
          <ac:chgData name="charles mccarthy" userId="c6971f366e65dfa3" providerId="LiveId" clId="{BAF8EF68-B7AB-4503-9648-829263EF8DA0}" dt="2025-12-15T11:15:15.110" v="81" actId="14100"/>
          <ac:picMkLst>
            <pc:docMk/>
            <pc:sldMk cId="0" sldId="258"/>
            <ac:picMk id="1026" creationId="{E459F31F-310F-0C2D-3673-9B5DCF30CCEE}"/>
          </ac:picMkLst>
        </pc:picChg>
        <pc:picChg chg="add mod">
          <ac:chgData name="charles mccarthy" userId="c6971f366e65dfa3" providerId="LiveId" clId="{BAF8EF68-B7AB-4503-9648-829263EF8DA0}" dt="2025-12-15T11:20:13.389" v="93" actId="1076"/>
          <ac:picMkLst>
            <pc:docMk/>
            <pc:sldMk cId="0" sldId="258"/>
            <ac:picMk id="1028" creationId="{ABF8F7DE-34BD-C571-9C07-78489B2C7151}"/>
          </ac:picMkLst>
        </pc:picChg>
        <pc:picChg chg="add mod">
          <ac:chgData name="charles mccarthy" userId="c6971f366e65dfa3" providerId="LiveId" clId="{BAF8EF68-B7AB-4503-9648-829263EF8DA0}" dt="2025-12-15T11:15:12.393" v="80" actId="1076"/>
          <ac:picMkLst>
            <pc:docMk/>
            <pc:sldMk cId="0" sldId="258"/>
            <ac:picMk id="1030" creationId="{C4F71EF0-C677-66E8-3D4D-1EB6670ECA4E}"/>
          </ac:picMkLst>
        </pc:picChg>
        <pc:picChg chg="add mod">
          <ac:chgData name="charles mccarthy" userId="c6971f366e65dfa3" providerId="LiveId" clId="{BAF8EF68-B7AB-4503-9648-829263EF8DA0}" dt="2025-12-15T11:15:05.191" v="76" actId="1076"/>
          <ac:picMkLst>
            <pc:docMk/>
            <pc:sldMk cId="0" sldId="258"/>
            <ac:picMk id="1032" creationId="{A54DC5DA-83E0-BBCC-B001-DB22FEA4F8A5}"/>
          </ac:picMkLst>
        </pc:picChg>
        <pc:picChg chg="add mod">
          <ac:chgData name="charles mccarthy" userId="c6971f366e65dfa3" providerId="LiveId" clId="{BAF8EF68-B7AB-4503-9648-829263EF8DA0}" dt="2025-12-15T11:15:07.258" v="77" actId="1076"/>
          <ac:picMkLst>
            <pc:docMk/>
            <pc:sldMk cId="0" sldId="258"/>
            <ac:picMk id="1034" creationId="{65C905C5-72D6-3282-3860-A207C0A5373C}"/>
          </ac:picMkLst>
        </pc:picChg>
        <pc:cxnChg chg="add">
          <ac:chgData name="charles mccarthy" userId="c6971f366e65dfa3" providerId="LiveId" clId="{BAF8EF68-B7AB-4503-9648-829263EF8DA0}" dt="2025-12-15T11:19:40.400" v="83" actId="11529"/>
          <ac:cxnSpMkLst>
            <pc:docMk/>
            <pc:sldMk cId="0" sldId="258"/>
            <ac:cxnSpMk id="6" creationId="{01CD9462-5C16-C470-65A8-2F27093D74E7}"/>
          </ac:cxnSpMkLst>
        </pc:cxnChg>
        <pc:cxnChg chg="add mod">
          <ac:chgData name="charles mccarthy" userId="c6971f366e65dfa3" providerId="LiveId" clId="{BAF8EF68-B7AB-4503-9648-829263EF8DA0}" dt="2025-12-15T11:19:46.793" v="85" actId="1076"/>
          <ac:cxnSpMkLst>
            <pc:docMk/>
            <pc:sldMk cId="0" sldId="258"/>
            <ac:cxnSpMk id="7" creationId="{721DF4AE-8A42-EFE7-5859-2CDB8FE2F23D}"/>
          </ac:cxnSpMkLst>
        </pc:cxnChg>
        <pc:cxnChg chg="add mod">
          <ac:chgData name="charles mccarthy" userId="c6971f366e65dfa3" providerId="LiveId" clId="{BAF8EF68-B7AB-4503-9648-829263EF8DA0}" dt="2025-12-15T11:19:53.086" v="87" actId="1076"/>
          <ac:cxnSpMkLst>
            <pc:docMk/>
            <pc:sldMk cId="0" sldId="258"/>
            <ac:cxnSpMk id="8" creationId="{7CE220F4-0D71-2B78-5412-68DD6AC4F387}"/>
          </ac:cxnSpMkLst>
        </pc:cxnChg>
        <pc:cxnChg chg="add mod">
          <ac:chgData name="charles mccarthy" userId="c6971f366e65dfa3" providerId="LiveId" clId="{BAF8EF68-B7AB-4503-9648-829263EF8DA0}" dt="2025-12-15T11:20:02.427" v="89" actId="1076"/>
          <ac:cxnSpMkLst>
            <pc:docMk/>
            <pc:sldMk cId="0" sldId="258"/>
            <ac:cxnSpMk id="9" creationId="{1B6AE495-4265-2301-D1C9-57745FC52BE9}"/>
          </ac:cxnSpMkLst>
        </pc:cxnChg>
        <pc:cxnChg chg="add mod">
          <ac:chgData name="charles mccarthy" userId="c6971f366e65dfa3" providerId="LiveId" clId="{BAF8EF68-B7AB-4503-9648-829263EF8DA0}" dt="2025-12-15T11:20:09.432" v="92" actId="14100"/>
          <ac:cxnSpMkLst>
            <pc:docMk/>
            <pc:sldMk cId="0" sldId="258"/>
            <ac:cxnSpMk id="10" creationId="{10371B22-1E81-D113-1EFA-1884068C91A9}"/>
          </ac:cxnSpMkLst>
        </pc:cxnChg>
      </pc:sldChg>
      <pc:sldChg chg="delSp modSp mod">
        <pc:chgData name="charles mccarthy" userId="c6971f366e65dfa3" providerId="LiveId" clId="{BAF8EF68-B7AB-4503-9648-829263EF8DA0}" dt="2025-12-15T11:07:50.518" v="1" actId="478"/>
        <pc:sldMkLst>
          <pc:docMk/>
          <pc:sldMk cId="0" sldId="259"/>
        </pc:sldMkLst>
        <pc:spChg chg="del mod">
          <ac:chgData name="charles mccarthy" userId="c6971f366e65dfa3" providerId="LiveId" clId="{BAF8EF68-B7AB-4503-9648-829263EF8DA0}" dt="2025-12-15T11:07:50.518" v="1" actId="478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FreightAI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Architecture &amp; System Design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FreightAI -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The FreightAI application is a comprehensive logistics management system that handles:</a:t>
            </a:r>
            <a:br/>
            <a:br/>
            <a:r>
              <a:t>• Vehicle Inspections - Automated inspection processing with AI-powered analysis</a:t>
            </a:r>
            <a:br/>
            <a:r>
              <a:t>• POD (Proof of Delivery) Management - Document extraction and storage</a:t>
            </a:r>
            <a:br/>
            <a:r>
              <a:t>• Image Management - Secure image upload and retrieval with presigned URLs</a:t>
            </a:r>
            <a:br/>
            <a:r>
              <a:t>• Real-time Data Access - Fast, scalable data retrieval through DynamoDB</a:t>
            </a:r>
            <a:br/>
            <a:br/>
            <a:r>
              <a:t>Built on AWS serverless architecture for high availability and cost efficiency.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389120"/>
            <a:ext cx="3657600" cy="1371600"/>
          </a:xfrm>
          <a:prstGeom prst="rect">
            <a:avLst/>
          </a:prstGeom>
          <a:solidFill>
            <a:srgbClr val="DCEB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Key Technologies</a:t>
            </a:r>
          </a:p>
          <a:p>
            <a:endParaRPr/>
          </a:p>
          <a:p>
            <a:r>
              <a:t>React • TypeScript</a:t>
            </a:r>
          </a:p>
          <a:p>
            <a:r>
              <a:t>AWS Lambda • API Gateway</a:t>
            </a:r>
          </a:p>
          <a:p>
            <a:r>
              <a:t>DynamoDB •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3657600" cy="1371600"/>
          </a:xfrm>
          <a:prstGeom prst="rect">
            <a:avLst/>
          </a:prstGeom>
          <a:solidFill>
            <a:srgbClr val="FFF0D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AWS Account</a:t>
            </a:r>
          </a:p>
          <a:p>
            <a:endParaRPr/>
          </a:p>
          <a:p>
            <a:r>
              <a:t>Account: 813281204422</a:t>
            </a:r>
          </a:p>
          <a:p>
            <a:r>
              <a:t>Region: us-east-1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966" y="387346"/>
            <a:ext cx="7483639" cy="866666"/>
          </a:xfrm>
        </p:spPr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rPr lang="en-IE" dirty="0" err="1"/>
              <a:t>FreightAI</a:t>
            </a:r>
            <a:r>
              <a:rPr dirty="0"/>
              <a:t> Architecture</a:t>
            </a:r>
          </a:p>
        </p:txBody>
      </p:sp>
      <p:pic>
        <p:nvPicPr>
          <p:cNvPr id="1026" name="Picture 2" descr="Ai Logo PNG Images With Transparent ...">
            <a:extLst>
              <a:ext uri="{FF2B5EF4-FFF2-40B4-BE49-F238E27FC236}">
                <a16:creationId xmlns:a16="http://schemas.microsoft.com/office/drawing/2014/main" id="{E459F31F-310F-0C2D-3673-9B5DCF30C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222" y="1696105"/>
            <a:ext cx="2119150" cy="21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original wordmark logo - Free ...">
            <a:extLst>
              <a:ext uri="{FF2B5EF4-FFF2-40B4-BE49-F238E27FC236}">
                <a16:creationId xmlns:a16="http://schemas.microsoft.com/office/drawing/2014/main" id="{ABF8F7DE-34BD-C571-9C07-78489B2C7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878" y="2487747"/>
            <a:ext cx="1327507" cy="132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rstanding Amazon DynamoDB | AWS in ...">
            <a:extLst>
              <a:ext uri="{FF2B5EF4-FFF2-40B4-BE49-F238E27FC236}">
                <a16:creationId xmlns:a16="http://schemas.microsoft.com/office/drawing/2014/main" id="{C4F71EF0-C677-66E8-3D4D-1EB6670E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222" y="4479338"/>
            <a:ext cx="1931274" cy="88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 Introduction to AWS S3: Naming Rules ...">
            <a:extLst>
              <a:ext uri="{FF2B5EF4-FFF2-40B4-BE49-F238E27FC236}">
                <a16:creationId xmlns:a16="http://schemas.microsoft.com/office/drawing/2014/main" id="{A54DC5DA-83E0-BBCC-B001-DB22FEA4F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874" y="4206107"/>
            <a:ext cx="1709256" cy="128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F70299-A90D-CE3D-B4FF-8BB6446CC4B5}"/>
              </a:ext>
            </a:extLst>
          </p:cNvPr>
          <p:cNvSpPr/>
          <p:nvPr/>
        </p:nvSpPr>
        <p:spPr>
          <a:xfrm>
            <a:off x="472966" y="1618592"/>
            <a:ext cx="1079937" cy="38678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Drop POD and Images</a:t>
            </a:r>
          </a:p>
        </p:txBody>
      </p:sp>
      <p:pic>
        <p:nvPicPr>
          <p:cNvPr id="1034" name="Picture 10" descr="AWS Lambda Under the Hood - Engineering ...">
            <a:extLst>
              <a:ext uri="{FF2B5EF4-FFF2-40B4-BE49-F238E27FC236}">
                <a16:creationId xmlns:a16="http://schemas.microsoft.com/office/drawing/2014/main" id="{65C905C5-72D6-3282-3860-A207C0A5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122" y="1696105"/>
            <a:ext cx="1697622" cy="167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CD9462-5C16-C470-65A8-2F27093D74E7}"/>
              </a:ext>
            </a:extLst>
          </p:cNvPr>
          <p:cNvCxnSpPr/>
          <p:nvPr/>
        </p:nvCxnSpPr>
        <p:spPr>
          <a:xfrm>
            <a:off x="1702676" y="2533648"/>
            <a:ext cx="43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1DF4AE-8A42-EFE7-5859-2CDB8FE2F23D}"/>
              </a:ext>
            </a:extLst>
          </p:cNvPr>
          <p:cNvCxnSpPr/>
          <p:nvPr/>
        </p:nvCxnSpPr>
        <p:spPr>
          <a:xfrm>
            <a:off x="1748098" y="4812749"/>
            <a:ext cx="43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E220F4-0D71-2B78-5412-68DD6AC4F387}"/>
              </a:ext>
            </a:extLst>
          </p:cNvPr>
          <p:cNvCxnSpPr/>
          <p:nvPr/>
        </p:nvCxnSpPr>
        <p:spPr>
          <a:xfrm>
            <a:off x="3628559" y="2730059"/>
            <a:ext cx="43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6AE495-4265-2301-D1C9-57745FC52BE9}"/>
              </a:ext>
            </a:extLst>
          </p:cNvPr>
          <p:cNvCxnSpPr/>
          <p:nvPr/>
        </p:nvCxnSpPr>
        <p:spPr>
          <a:xfrm>
            <a:off x="6721228" y="2961286"/>
            <a:ext cx="43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371B22-1E81-D113-1EFA-1884068C91A9}"/>
              </a:ext>
            </a:extLst>
          </p:cNvPr>
          <p:cNvCxnSpPr>
            <a:cxnSpLocks/>
          </p:cNvCxnSpPr>
          <p:nvPr/>
        </p:nvCxnSpPr>
        <p:spPr>
          <a:xfrm>
            <a:off x="5198021" y="4041224"/>
            <a:ext cx="0" cy="325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2743200" cy="731520"/>
          </a:xfrm>
          <a:prstGeom prst="rect">
            <a:avLst/>
          </a:prstGeom>
          <a:solidFill>
            <a:srgbClr val="61DAFB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React Frontend</a:t>
            </a:r>
          </a:p>
          <a:p>
            <a:r>
              <a:t>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solidFill>
            <a:srgbClr val="FF9933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API Gateway</a:t>
            </a:r>
          </a:p>
          <a:p>
            <a:r>
              <a:t>mc7upldn34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83280"/>
            <a:ext cx="2743200" cy="731520"/>
          </a:xfrm>
          <a:prstGeom prst="rect">
            <a:avLst/>
          </a:prstGeom>
          <a:solidFill>
            <a:srgbClr val="FF9933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Lambda: react-ui</a:t>
            </a:r>
          </a:p>
          <a:p>
            <a:r>
              <a:t>Main API Handler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1828800" cy="731520"/>
          </a:xfrm>
          <a:prstGeom prst="rect">
            <a:avLst/>
          </a:prstGeom>
          <a:solidFill>
            <a:srgbClr val="336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DynamoDB</a:t>
            </a:r>
          </a:p>
          <a:p>
            <a:r>
              <a:t>POD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4754880"/>
            <a:ext cx="2103120" cy="731520"/>
          </a:xfrm>
          <a:prstGeom prst="rect">
            <a:avLst/>
          </a:prstGeom>
          <a:solidFill>
            <a:srgbClr val="336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DynamoDB</a:t>
            </a:r>
          </a:p>
          <a:p>
            <a:r>
              <a:t>inspection_results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754880"/>
            <a:ext cx="1645920" cy="731520"/>
          </a:xfrm>
          <a:prstGeom prst="rect">
            <a:avLst/>
          </a:prstGeom>
          <a:solidFill>
            <a:srgbClr val="FF9933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Lambda</a:t>
            </a:r>
          </a:p>
          <a:p>
            <a:r>
              <a:t>pod-extract2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754880"/>
            <a:ext cx="1645920" cy="731520"/>
          </a:xfrm>
          <a:prstGeom prst="rect">
            <a:avLst/>
          </a:prstGeom>
          <a:solidFill>
            <a:srgbClr val="FF9933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Lambda</a:t>
            </a:r>
          </a:p>
          <a:p>
            <a:r>
              <a:t>image-presign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760720"/>
            <a:ext cx="2560320" cy="731520"/>
          </a:xfrm>
          <a:prstGeom prst="rect">
            <a:avLst/>
          </a:prstGeom>
          <a:solidFill>
            <a:srgbClr val="4CAF50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S3 Buckets</a:t>
            </a:r>
          </a:p>
          <a:p>
            <a:r>
              <a:t>Images &amp; POD Storage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20240"/>
            <a:ext cx="0" cy="36576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3017520"/>
            <a:ext cx="0" cy="36576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371600" y="4114800"/>
            <a:ext cx="2103120" cy="64008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66160" y="4114800"/>
            <a:ext cx="548640" cy="64008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4114800"/>
            <a:ext cx="822960" cy="64008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4114800"/>
            <a:ext cx="2194560" cy="64008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5486400"/>
            <a:ext cx="0" cy="27432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Flow - Vehicle Inspections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645920" cy="731520"/>
          </a:xfrm>
          <a:prstGeom prst="rect">
            <a:avLst/>
          </a:prstGeom>
          <a:solidFill>
            <a:srgbClr val="C8E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1. User Request</a:t>
            </a:r>
          </a:p>
          <a:p>
            <a:r>
              <a:t>GET /inspections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371600"/>
            <a:ext cx="1645920" cy="731520"/>
          </a:xfrm>
          <a:prstGeom prst="rect">
            <a:avLst/>
          </a:prstGeom>
          <a:solidFill>
            <a:srgbClr val="FFC89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2. API Gateway</a:t>
            </a:r>
          </a:p>
          <a:p>
            <a:r>
              <a:t>Route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1645920" cy="731520"/>
          </a:xfrm>
          <a:prstGeom prst="rect">
            <a:avLst/>
          </a:prstGeom>
          <a:solidFill>
            <a:srgbClr val="FFC89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3. Lambda</a:t>
            </a:r>
          </a:p>
          <a:p>
            <a:r>
              <a:t>react-ui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1645920" cy="731520"/>
          </a:xfrm>
          <a:prstGeom prst="rect">
            <a:avLst/>
          </a:prstGeom>
          <a:solidFill>
            <a:srgbClr val="96B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4. Query</a:t>
            </a:r>
          </a:p>
          <a:p>
            <a:r>
              <a:t>DynamoDB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2011680" cy="731520"/>
          </a:xfrm>
          <a:prstGeom prst="rect">
            <a:avLst/>
          </a:prstGeom>
          <a:solidFill>
            <a:srgbClr val="FFC896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5. Generate</a:t>
            </a:r>
          </a:p>
          <a:p>
            <a:r>
              <a:t>Presigned URLs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560320"/>
            <a:ext cx="2011680" cy="731520"/>
          </a:xfrm>
          <a:prstGeom prst="rect">
            <a:avLst/>
          </a:prstGeom>
          <a:solidFill>
            <a:srgbClr val="C8FF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6. Return JSON</a:t>
            </a:r>
          </a:p>
          <a:p>
            <a:r>
              <a:t>with ImageURLs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60320"/>
            <a:ext cx="2011680" cy="731520"/>
          </a:xfrm>
          <a:prstGeom prst="rect">
            <a:avLst/>
          </a:prstGeom>
          <a:solidFill>
            <a:srgbClr val="C8E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7. Frontend</a:t>
            </a:r>
          </a:p>
          <a:p>
            <a:r>
              <a:t>Display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1737360"/>
            <a:ext cx="27432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1737360"/>
            <a:ext cx="27432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1737360"/>
            <a:ext cx="27432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377440" y="2103120"/>
            <a:ext cx="4480560" cy="45720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0" y="2926080"/>
            <a:ext cx="45720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2160" y="2926080"/>
            <a:ext cx="457200" cy="0"/>
          </a:xfrm>
          <a:prstGeom prst="bentConnector3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Process Details:</a:t>
            </a:r>
            <a:br/>
            <a:br/>
            <a:r>
              <a:t>• Inspections are stored in DynamoDB with S3 image references</a:t>
            </a:r>
            <a:br/>
            <a:r>
              <a:t>• Lambda generates presigned URLs (6-hour expiry) for secure image access</a:t>
            </a:r>
            <a:br/>
            <a:r>
              <a:t>• Response includes inspection metadata, scores, and direct image URLs</a:t>
            </a:r>
            <a:br/>
            <a:r>
              <a:t>• Frontend displays inspection results with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AWS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API Gateway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9933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HTTP API: react-api</a:t>
            </a:r>
          </a:p>
          <a:p>
            <a:r>
              <a:t>ID: mc7upldn34</a:t>
            </a:r>
          </a:p>
          <a:p>
            <a:r>
              <a:t>Region: us-east-1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Endpoint: https://mc7upldn34.execute-api.us-east-1.amazonaws.com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API Routes:</a:t>
            </a:r>
            <a:br/>
            <a:br/>
            <a:r>
              <a:t>• GET /ft1/inspections - Retrieve vehicle inspection records</a:t>
            </a:r>
            <a:br/>
            <a:r>
              <a:t>• GET /pod - Retrieve POD documents</a:t>
            </a:r>
            <a:br/>
            <a:r>
              <a:t>• ANY /presign - Generate presigned URLs for S3 access</a:t>
            </a:r>
            <a:br/>
            <a:r>
              <a:t>• GET /s3-list - List S3 bucket contents</a:t>
            </a:r>
            <a:br/>
            <a:r>
              <a:t>• ANY /ft1/presign - Generate presigned URLs (alternate endpoint)</a:t>
            </a:r>
            <a:br/>
            <a:br/>
            <a:r>
              <a:t>Integration Type: AWS_PROXY</a:t>
            </a:r>
            <a:br/>
            <a:r>
              <a:t>Target: Lambda function 'react-ui'</a:t>
            </a:r>
            <a:br/>
            <a:r>
              <a:t>Timeout: 30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Lambda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solidFill>
            <a:srgbClr val="FF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react-ui</a:t>
            </a:r>
          </a:p>
          <a:p>
            <a:endParaRPr/>
          </a:p>
          <a:p>
            <a:r>
              <a:t>Main API handler for all routes</a:t>
            </a:r>
          </a:p>
          <a:p>
            <a:r>
              <a:t>Runtime: Python 3.11</a:t>
            </a:r>
          </a:p>
          <a:p>
            <a:r>
              <a:t>Integration: API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rgbClr val="FF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pod-extract2</a:t>
            </a:r>
          </a:p>
          <a:p>
            <a:endParaRPr/>
          </a:p>
          <a:p>
            <a:r>
              <a:t>POD document extraction</a:t>
            </a:r>
          </a:p>
          <a:p>
            <a:r>
              <a:t>Runtime: Python 3.11</a:t>
            </a:r>
          </a:p>
          <a:p>
            <a:r>
              <a:t>Process: Extract &amp; store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931920" cy="1188720"/>
          </a:xfrm>
          <a:prstGeom prst="rect">
            <a:avLst/>
          </a:prstGeom>
          <a:solidFill>
            <a:srgbClr val="FF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image-presign</a:t>
            </a:r>
          </a:p>
          <a:p>
            <a:endParaRPr/>
          </a:p>
          <a:p>
            <a:r>
              <a:t>Generate S3 presigned URLs</a:t>
            </a:r>
          </a:p>
          <a:p>
            <a:r>
              <a:t>Runtime: Python 3.11</a:t>
            </a:r>
          </a:p>
          <a:p>
            <a:r>
              <a:t>Purpose: Secure image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926080"/>
            <a:ext cx="3931920" cy="1188720"/>
          </a:xfrm>
          <a:prstGeom prst="rect">
            <a:avLst/>
          </a:prstGeom>
          <a:solidFill>
            <a:srgbClr val="FF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image-load</a:t>
            </a:r>
          </a:p>
          <a:p>
            <a:endParaRPr/>
          </a:p>
          <a:p>
            <a:r>
              <a:t>Load and process S3 images</a:t>
            </a:r>
          </a:p>
          <a:p>
            <a:r>
              <a:t>Runtime: Python 3.11</a:t>
            </a:r>
          </a:p>
          <a:p>
            <a:r>
              <a:t>Purpose: Image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Common Configuration:</a:t>
            </a:r>
            <a:br/>
            <a:r>
              <a:t>• Handler: lambda_function.lambda_handler</a:t>
            </a:r>
            <a:br/>
            <a:r>
              <a:t>• Region: us-east-1</a:t>
            </a:r>
            <a:br/>
            <a:r>
              <a:t>• Account: 813281204422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DynamoDB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649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POD Table</a:t>
            </a:r>
          </a:p>
          <a:p>
            <a:endParaRPr/>
          </a:p>
          <a:p>
            <a:r>
              <a:t>Partition Key: PODID (String)</a:t>
            </a:r>
          </a:p>
          <a:p>
            <a:r>
              <a:t>Sort Key: Delivery_date (String)</a:t>
            </a:r>
          </a:p>
          <a:p>
            <a:endParaRPr/>
          </a:p>
          <a:p>
            <a:r>
              <a:t>Billing: PAY_PER_REQUEST</a:t>
            </a:r>
          </a:p>
          <a:p>
            <a:r>
              <a:t>Items: ~10</a:t>
            </a:r>
          </a:p>
          <a:p>
            <a:r>
              <a:t>Read: 12,000/sec</a:t>
            </a:r>
          </a:p>
          <a:p>
            <a:r>
              <a:t>Write: 4,000/sec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6496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inspection_results</a:t>
            </a:r>
          </a:p>
          <a:p>
            <a:endParaRPr/>
          </a:p>
          <a:p>
            <a:r>
              <a:t>Partition Key: inspectionId</a:t>
            </a:r>
          </a:p>
          <a:p>
            <a:r>
              <a:t>Sort Key: license_plate</a:t>
            </a:r>
          </a:p>
          <a:p>
            <a:endParaRPr/>
          </a:p>
          <a:p>
            <a:r>
              <a:t>Billing: PAY_PER_REQUEST</a:t>
            </a:r>
          </a:p>
          <a:p>
            <a:r>
              <a:t>Items: ~2</a:t>
            </a:r>
          </a:p>
          <a:p>
            <a:r>
              <a:t>Read: 12,000/sec</a:t>
            </a:r>
          </a:p>
          <a:p>
            <a:r>
              <a:t>Write: 4,000/sec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Key Features:</a:t>
            </a:r>
            <a:br/>
            <a:br/>
            <a:r>
              <a:t>• On-Demand billing for cost optimization</a:t>
            </a:r>
            <a:br/>
            <a:r>
              <a:t>• STANDARD table class for consistent performance</a:t>
            </a:r>
            <a:br/>
            <a:r>
              <a:t>• Warm throughput enabled for low-latency access</a:t>
            </a:r>
            <a:br/>
            <a:r>
              <a:t>• Region: us-east-1 (US East - N. Virginia)</a:t>
            </a:r>
            <a:br/>
            <a:r>
              <a:t>• Deletion protection: Disabled (development environment)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S3 Storage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64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aws-s3-futuregen-images</a:t>
            </a:r>
          </a:p>
          <a:p>
            <a:endParaRPr/>
          </a:p>
          <a:p>
            <a:r>
              <a:t>Vehicle Inspection Images</a:t>
            </a:r>
          </a:p>
          <a:p>
            <a:endParaRPr/>
          </a:p>
          <a:p>
            <a:r>
              <a:t>Folders:</a:t>
            </a:r>
          </a:p>
          <a:p>
            <a:r>
              <a:t>• images-pass/ (successful)</a:t>
            </a:r>
          </a:p>
          <a:p>
            <a:r>
              <a:t>• images-fail/ (failed)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64C864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aws-s3-futuregen-pod1</a:t>
            </a:r>
          </a:p>
          <a:p>
            <a:endParaRPr/>
          </a:p>
          <a:p>
            <a:r>
              <a:t>POD Documents</a:t>
            </a:r>
          </a:p>
          <a:p>
            <a:endParaRPr/>
          </a:p>
          <a:p>
            <a:r>
              <a:t>Storage:</a:t>
            </a:r>
          </a:p>
          <a:p>
            <a:r>
              <a:t>• Delivery receipts</a:t>
            </a:r>
          </a:p>
          <a:p>
            <a:r>
              <a:t>• Signed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rPr dirty="0"/>
              <a:t>CORS Configuration:</a:t>
            </a:r>
            <a:br>
              <a:rPr dirty="0"/>
            </a:br>
            <a:br>
              <a:rPr dirty="0"/>
            </a:br>
            <a:r>
              <a:rPr dirty="0"/>
              <a:t>• Allow Origins: * (all origins)</a:t>
            </a:r>
            <a:br>
              <a:rPr dirty="0"/>
            </a:br>
            <a:r>
              <a:rPr dirty="0"/>
              <a:t>• Allow Methods: GET, POST, PUT, DELETE</a:t>
            </a:r>
            <a:br>
              <a:rPr dirty="0"/>
            </a:br>
            <a:r>
              <a:rPr dirty="0"/>
              <a:t>• Allow Headers: content-type, authorization, x-</a:t>
            </a:r>
            <a:r>
              <a:rPr dirty="0" err="1"/>
              <a:t>api</a:t>
            </a:r>
            <a:r>
              <a:rPr dirty="0"/>
              <a:t>-key, x-</a:t>
            </a:r>
            <a:r>
              <a:rPr dirty="0" err="1"/>
              <a:t>amz</a:t>
            </a:r>
            <a:r>
              <a:rPr dirty="0"/>
              <a:t>-date, x-</a:t>
            </a:r>
            <a:r>
              <a:rPr dirty="0" err="1"/>
              <a:t>amz</a:t>
            </a:r>
            <a:r>
              <a:rPr dirty="0"/>
              <a:t>-security-token</a:t>
            </a:r>
            <a:br>
              <a:rPr dirty="0"/>
            </a:br>
            <a:r>
              <a:rPr dirty="0"/>
              <a:t>• Max Age: 300 seconds</a:t>
            </a:r>
            <a:br>
              <a:rPr dirty="0"/>
            </a:br>
            <a:br>
              <a:rPr dirty="0"/>
            </a:br>
            <a:r>
              <a:rPr dirty="0"/>
              <a:t>Security: </a:t>
            </a:r>
            <a:r>
              <a:rPr dirty="0" err="1"/>
              <a:t>Presigned</a:t>
            </a:r>
            <a:r>
              <a:rPr dirty="0"/>
              <a:t> URLs with 6-hour expiration for secure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API &amp;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API Endpoints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Main API Endpoints:</a:t>
            </a:r>
            <a:br/>
            <a:br/>
            <a:r>
              <a:t>1. GET /ft1/inspections</a:t>
            </a:r>
            <a:br/>
            <a:r>
              <a:t>   • Returns all vehicle inspection records</a:t>
            </a:r>
            <a:br/>
            <a:r>
              <a:t>   • Includes presigned image URLs (6-hour expiry)</a:t>
            </a:r>
            <a:br/>
            <a:r>
              <a:t>   • Response includes inspection scores and status</a:t>
            </a:r>
            <a:br/>
            <a:br/>
            <a:r>
              <a:t>2. GET /pod</a:t>
            </a:r>
            <a:br/>
            <a:r>
              <a:t>   • Retrieves POD (Proof of Delivery) documents</a:t>
            </a:r>
            <a:br/>
            <a:r>
              <a:t>   • Returns document metadata and S3 locations</a:t>
            </a:r>
            <a:br/>
            <a:br/>
            <a:r>
              <a:t>3. ANY /presign or /ft1/presign</a:t>
            </a:r>
            <a:br/>
            <a:r>
              <a:t>   • Generates presigned URLs for S3 objects</a:t>
            </a:r>
            <a:br/>
            <a:r>
              <a:t>   • Allows secure, temporary access to private files</a:t>
            </a:r>
            <a:br/>
            <a:br/>
            <a:r>
              <a:t>4. GET /s3-list</a:t>
            </a:r>
            <a:br/>
            <a:r>
              <a:t>   • Lists contents of S3 buckets</a:t>
            </a:r>
            <a:br/>
            <a:r>
              <a:t>   • Returns available images and documents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Deployment &amp;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Deployment Strategy:</a:t>
            </a:r>
            <a:br/>
            <a:br/>
            <a:r>
              <a:t>Frontend Deployment:</a:t>
            </a:r>
            <a:br/>
            <a:r>
              <a:t>• React application built with TypeScript</a:t>
            </a:r>
            <a:br/>
            <a:r>
              <a:t>• Build command: npm run build</a:t>
            </a:r>
            <a:br/>
            <a:r>
              <a:t>• Output: Optimized static files in /build directory</a:t>
            </a:r>
            <a:br/>
            <a:r>
              <a:t>• Deployment: Can be hosted on S3 + CloudFront, Amplify, or any static hosting</a:t>
            </a:r>
            <a:br/>
            <a:br/>
            <a:r>
              <a:t>Backend Deployment:</a:t>
            </a:r>
            <a:br/>
            <a:r>
              <a:t>• Lambda functions deployed via AWS CLI or console</a:t>
            </a:r>
            <a:br/>
            <a:r>
              <a:t>• Functions packaged as .zip files with dependencies</a:t>
            </a:r>
            <a:br/>
            <a:r>
              <a:t>• API Gateway routes traffic to Lambda functions</a:t>
            </a:r>
            <a:br/>
            <a:r>
              <a:t>• DynamoDB tables pre-created with on-demand billing</a:t>
            </a:r>
            <a:br/>
            <a:br/>
            <a:r>
              <a:t>Environment Configuration:</a:t>
            </a:r>
            <a:br/>
            <a:r>
              <a:t>• API endpoint configured in React environment</a:t>
            </a:r>
            <a:br/>
            <a:r>
              <a:t>• Lambda environment variables set per function</a:t>
            </a:r>
            <a:br/>
            <a:r>
              <a:t>• CORS enabled for cross-origin requests</a:t>
            </a:r>
            <a:br/>
            <a:r>
              <a:t>• S3 bucket policies configured for Lambda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Security &amp;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2103120"/>
          </a:xfrm>
          <a:prstGeom prst="rect">
            <a:avLst/>
          </a:prstGeom>
          <a:solidFill>
            <a:srgbClr val="C8FF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Current Security</a:t>
            </a:r>
          </a:p>
          <a:p>
            <a:endParaRPr/>
          </a:p>
          <a:p>
            <a:r>
              <a:t>✓ Presigned URLs (6h expiry)</a:t>
            </a:r>
          </a:p>
          <a:p>
            <a:r>
              <a:t>✓ IAM roles for Lambda</a:t>
            </a:r>
          </a:p>
          <a:p>
            <a:r>
              <a:t>✓ HTTPS endpoints</a:t>
            </a:r>
          </a:p>
          <a:p>
            <a:r>
              <a:t>✓ CORS configuration</a:t>
            </a:r>
          </a:p>
          <a:p>
            <a:r>
              <a:t>✓ On-demand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FFF0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Recommended for Production</a:t>
            </a:r>
          </a:p>
          <a:p>
            <a:endParaRPr/>
          </a:p>
          <a:p>
            <a:r>
              <a:t>• API key authentication</a:t>
            </a:r>
          </a:p>
          <a:p>
            <a:r>
              <a:t>• WAF (Web Application Firewall)</a:t>
            </a:r>
          </a:p>
          <a:p>
            <a:r>
              <a:t>• CloudWatch monitoring</a:t>
            </a:r>
          </a:p>
          <a:p>
            <a:r>
              <a:t>• DynamoDB backups</a:t>
            </a:r>
          </a:p>
          <a:p>
            <a:r>
              <a:t>• Restrict CORS origins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Cost Optimization:</a:t>
            </a:r>
            <a:br/>
            <a:br/>
            <a:r>
              <a:t>• DynamoDB on-demand pricing - pay per request</a:t>
            </a:r>
            <a:br/>
            <a:r>
              <a:t>• Lambda charged per invocation and execution time</a:t>
            </a:r>
            <a:br/>
            <a:r>
              <a:t>• S3 storage costs based on data volume</a:t>
            </a:r>
            <a:br/>
            <a:r>
              <a:t>• API Gateway costs per API call</a:t>
            </a:r>
            <a:br/>
            <a:r>
              <a:t>• Estimated monthly cost: $5-50 depending on usage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DCD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Phase 1: Security</a:t>
            </a:r>
          </a:p>
          <a:p>
            <a:endParaRPr/>
          </a:p>
          <a:p>
            <a:r>
              <a:t>• API authentication</a:t>
            </a:r>
          </a:p>
          <a:p>
            <a:r>
              <a:t>• User management</a:t>
            </a:r>
          </a:p>
          <a:p>
            <a:r>
              <a:t>• Audit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DC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Phase 2: Features</a:t>
            </a:r>
          </a:p>
          <a:p>
            <a:endParaRPr/>
          </a:p>
          <a:p>
            <a:r>
              <a:t>• Real-time notifications</a:t>
            </a:r>
          </a:p>
          <a:p>
            <a:r>
              <a:t>• Advanced AI analysis</a:t>
            </a:r>
          </a:p>
          <a:p>
            <a:r>
              <a:t>• Mobile app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DCFFD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Phase 3: Scale</a:t>
            </a:r>
          </a:p>
          <a:p>
            <a:endParaRPr/>
          </a:p>
          <a:p>
            <a:r>
              <a:t>• Multi-region deployment</a:t>
            </a:r>
          </a:p>
          <a:p>
            <a:r>
              <a:t>• CDN integration</a:t>
            </a:r>
          </a:p>
          <a:p>
            <a:r>
              <a:t>•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0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/>
            </a:pPr>
            <a:r>
              <a:t>Phase 4: Analytics</a:t>
            </a:r>
          </a:p>
          <a:p>
            <a:endParaRPr/>
          </a:p>
          <a:p>
            <a:r>
              <a:t>• Business intelligence</a:t>
            </a:r>
          </a:p>
          <a:p>
            <a:r>
              <a:t>• Trend analysis</a:t>
            </a:r>
          </a:p>
          <a:p>
            <a:r>
              <a:t>• Reporting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1073</Words>
  <Application>Microsoft Office PowerPoint</Application>
  <PresentationFormat>On-screen Show (4:3)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FreightAI</vt:lpstr>
      <vt:lpstr>PowerPoint Presentation</vt:lpstr>
      <vt:lpstr>FreightAI Architecture</vt:lpstr>
      <vt:lpstr>PowerPoint Presentation</vt:lpstr>
      <vt:lpstr>PowerPoint Presentation</vt:lpstr>
      <vt:lpstr>AWS Components</vt:lpstr>
      <vt:lpstr>PowerPoint Presentation</vt:lpstr>
      <vt:lpstr>PowerPoint Presentation</vt:lpstr>
      <vt:lpstr>PowerPoint Presentation</vt:lpstr>
      <vt:lpstr>PowerPoint Presentation</vt:lpstr>
      <vt:lpstr>API &amp; Integration</vt:lpstr>
      <vt:lpstr>PowerPoint Presentation</vt:lpstr>
      <vt:lpstr>Deployment &amp; Operations</vt:lpstr>
      <vt:lpstr>PowerPoint Presentation</vt:lpstr>
      <vt:lpstr>PowerPoint Presentation</vt:lpstr>
      <vt:lpstr>Future Roadmap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charles mccarthy</cp:lastModifiedBy>
  <cp:revision>1</cp:revision>
  <dcterms:created xsi:type="dcterms:W3CDTF">2013-01-27T09:14:16Z</dcterms:created>
  <dcterms:modified xsi:type="dcterms:W3CDTF">2025-12-15T11:21:56Z</dcterms:modified>
  <cp:category/>
</cp:coreProperties>
</file>